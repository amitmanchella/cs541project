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7" r:id="rId2"/>
    <p:sldId id="264" r:id="rId3"/>
    <p:sldId id="265" r:id="rId4"/>
    <p:sldId id="266" r:id="rId5"/>
    <p:sldId id="271" r:id="rId6"/>
    <p:sldId id="268" r:id="rId7"/>
    <p:sldId id="269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8"/>
    <p:restoredTop sz="94726"/>
  </p:normalViewPr>
  <p:slideViewPr>
    <p:cSldViewPr snapToGrid="0">
      <p:cViewPr varScale="1">
        <p:scale>
          <a:sx n="122" d="100"/>
          <a:sy n="122" d="100"/>
        </p:scale>
        <p:origin x="224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320292-1997-F2F2-C62C-36FB3AB874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AB5983F-CC15-1D1D-F3FB-3A1A7EACC1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CEB429-D067-F2D9-8FD8-8A266B3455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95DCB-ACE4-374B-B3C1-B09DF93821F3}" type="datetimeFigureOut">
              <a:rPr lang="en-US" smtClean="0"/>
              <a:t>3/7/26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99A2D4-417B-A1F8-78B8-2DB78B15D5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AA8F72-3339-4B31-1982-0281EED93D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F001E-6C58-CC4A-A152-AA51E33019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97081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C09B04-A753-C952-D554-B7DFDEDFED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2A1B05-C8A0-2831-42E6-CE30CAB17B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EC7730-7E0F-1396-0651-17D3DC4FC6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95DCB-ACE4-374B-B3C1-B09DF93821F3}" type="datetimeFigureOut">
              <a:rPr lang="en-US" smtClean="0"/>
              <a:t>3/7/26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BF4069-54C6-C23F-F3D2-1A99DC226B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C5D825-1693-FF39-E59B-507461D2E3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F001E-6C58-CC4A-A152-AA51E33019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82109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46077-78B1-95B2-BDB5-457A81A999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D8BDB3-E215-2FF3-822D-67E4E4D856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157CAD-72E4-0B02-023C-5539FCF86C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95DCB-ACE4-374B-B3C1-B09DF93821F3}" type="datetimeFigureOut">
              <a:rPr lang="en-US" smtClean="0"/>
              <a:t>3/7/26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996E70-1DF8-7B37-9F5D-5F35F2F776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2A6F10-E067-1931-9AB0-39E3FB3775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F001E-6C58-CC4A-A152-AA51E33019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02063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3BF427-457F-D37F-6873-181958FA64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80CE87-2772-8117-CE69-CFF268527A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D25B76-C89F-1257-C3EC-0CFDE9199D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20AB75-031B-A5A0-97FB-461C03BD4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95DCB-ACE4-374B-B3C1-B09DF93821F3}" type="datetimeFigureOut">
              <a:rPr lang="en-US" smtClean="0"/>
              <a:t>3/7/26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5084B6-C6AA-49F4-22F2-6ED58DBFB2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EF2B90-B6E6-33B0-19A9-B1B0EA95A5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F001E-6C58-CC4A-A152-AA51E33019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55956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89A80D-2B33-2D7B-CB79-0567BC4EF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15F1AD-D415-ABDA-D6EA-F4937F9291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CB4B7B-5DE2-CF22-7A30-2156D04924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2E960B2-CB04-7220-02AE-D5F1DFE2DA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5D778B5-FFBE-03B9-AC49-36795FB5509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ACC92CD-13E1-D390-EFDB-FD3E6E45C1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95DCB-ACE4-374B-B3C1-B09DF93821F3}" type="datetimeFigureOut">
              <a:rPr lang="en-US" smtClean="0"/>
              <a:t>3/7/26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5018C1D-CA00-F5B6-7C6D-6A194E5CC5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0AF6044-5CCE-E513-4B93-CEF0417F78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F001E-6C58-CC4A-A152-AA51E33019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87621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B572EE-BCA4-0235-CD68-5515309E98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718F916-07F3-4287-96CE-4B5BB6EBF2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95DCB-ACE4-374B-B3C1-B09DF93821F3}" type="datetimeFigureOut">
              <a:rPr lang="en-US" smtClean="0"/>
              <a:t>3/7/26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BD854D-73BF-0F31-B162-DC50A8F30A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A9C6E2-22A9-A7BF-8849-E270E1A3B6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F001E-6C58-CC4A-A152-AA51E33019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76673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90C30D0-DE16-6813-E0A6-B73DCC2311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95DCB-ACE4-374B-B3C1-B09DF93821F3}" type="datetimeFigureOut">
              <a:rPr lang="en-US" smtClean="0"/>
              <a:t>3/7/26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A418A18-53E6-D0EC-341F-2FE91E6F46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218311-CD64-7D38-840C-7BF0EEC34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F001E-6C58-CC4A-A152-AA51E33019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43719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A2F1B8-1397-0ADB-7666-59958CDCAA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C21FB2-DD73-BC85-F033-6FC11B3912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2F6185-11EA-CFA4-6DBE-BE77CC17AD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87098-6AFC-FE93-4F93-ED3684EA1B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95DCB-ACE4-374B-B3C1-B09DF93821F3}" type="datetimeFigureOut">
              <a:rPr lang="en-US" smtClean="0"/>
              <a:t>3/7/26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0FA5C4-4FCC-6EDE-525D-D4B647D34C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0ADE0A-B03F-91A8-D773-31822AA08E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F001E-6C58-CC4A-A152-AA51E33019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42697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C757BE-B2BD-C32C-F4AE-224B245BC0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A2844F4-AC00-CE97-3B2A-C75D308452D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9B5CE3-D93B-5966-24E9-D1C2AC6764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D7DB36-C535-C923-99A4-33DB2B221A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95DCB-ACE4-374B-B3C1-B09DF93821F3}" type="datetimeFigureOut">
              <a:rPr lang="en-US" smtClean="0"/>
              <a:t>3/7/26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B10782-26D1-CC7D-5E6C-CFAB6A3311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80B035-F6BC-5BAB-E5B1-863F6B7F61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F001E-6C58-CC4A-A152-AA51E33019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79676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15C2D5-DF42-B35C-B891-9B642C825E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649C81B-7BD0-1C05-98FD-5C21EACED4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D75A87-BE51-0330-D159-B28C8F429C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95DCB-ACE4-374B-B3C1-B09DF93821F3}" type="datetimeFigureOut">
              <a:rPr lang="en-US" smtClean="0"/>
              <a:t>3/7/26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49B7CF-630B-8D70-B841-D300352945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5B6AB6-2BFB-E188-2AB2-0382B019ED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F001E-6C58-CC4A-A152-AA51E33019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02964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ED682F0-FDEE-00E9-92C8-2A734A17D7E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880F8AF-A794-AD68-10F1-80C030ECAD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69CE5E-4390-1AF7-5A9D-2E45E39093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95DCB-ACE4-374B-B3C1-B09DF93821F3}" type="datetimeFigureOut">
              <a:rPr lang="en-US" smtClean="0"/>
              <a:t>3/7/26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0B2C6D-CEDC-A8B0-1AA2-6C5384BE15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87DB6A-A38E-8723-F405-ADE6B0B121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F001E-6C58-CC4A-A152-AA51E33019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9909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E5499FA-FAED-7603-1372-0F9534AC01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08B456-21C6-8346-98D7-6BCBD8E32A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0A0379-6A84-C8D9-8961-ECCB0B44770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9F95DCB-ACE4-374B-B3C1-B09DF93821F3}" type="datetimeFigureOut">
              <a:rPr lang="en-US" smtClean="0"/>
              <a:t>3/7/26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035378-03CE-5FCD-CD15-09684A8066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DF1BA1-5651-44FC-C144-B03BA84C55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5AF001E-6C58-CC4A-A152-AA51E33019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7731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2563EB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37415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9B9B9C3-9143-874A-8703-8F4D4118A2A4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D1AC65B-77D7-3C46-86F7-6F97B6C810FB}"/>
              </a:ext>
            </a:extLst>
          </p:cNvPr>
          <p:cNvSpPr txBox="1"/>
          <p:nvPr/>
        </p:nvSpPr>
        <p:spPr>
          <a:xfrm>
            <a:off x="1016000" y="2032000"/>
            <a:ext cx="10160000" cy="152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3600" b="1">
                <a:solidFill>
                  <a:srgbClr val="2563EB"/>
                </a:solidFill>
                <a:latin typeface="Calibri"/>
                <a:cs typeface="Calibri"/>
              </a:rPr>
              <a:t>SemOrder: Cost-Based Logical Ordering
of Semantic Operators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825CC44-B01E-9349-94E3-40BD0F009755}"/>
              </a:ext>
            </a:extLst>
          </p:cNvPr>
          <p:cNvSpPr/>
          <p:nvPr/>
        </p:nvSpPr>
        <p:spPr>
          <a:xfrm>
            <a:off x="3556000" y="3683000"/>
            <a:ext cx="5080000" cy="38100"/>
          </a:xfrm>
          <a:prstGeom prst="rect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95BDDFD-7684-E341-8AB4-6B6D3B38736A}"/>
              </a:ext>
            </a:extLst>
          </p:cNvPr>
          <p:cNvSpPr txBox="1"/>
          <p:nvPr/>
        </p:nvSpPr>
        <p:spPr>
          <a:xfrm>
            <a:off x="1524000" y="3937000"/>
            <a:ext cx="9144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000" dirty="0">
                <a:solidFill>
                  <a:srgbClr val="374151"/>
                </a:solidFill>
                <a:latin typeface="Calibri"/>
                <a:cs typeface="Calibri"/>
              </a:rPr>
              <a:t>CS 54100 - Data Management for AI | Midterm Presentation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E903816-6FE2-ED42-BD2D-6C5A32E4F449}"/>
              </a:ext>
            </a:extLst>
          </p:cNvPr>
          <p:cNvSpPr txBox="1"/>
          <p:nvPr/>
        </p:nvSpPr>
        <p:spPr>
          <a:xfrm>
            <a:off x="2540000" y="4635500"/>
            <a:ext cx="7112000" cy="4445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dirty="0">
                <a:solidFill>
                  <a:srgbClr val="6B7280"/>
                </a:solidFill>
                <a:latin typeface="Calibri"/>
                <a:cs typeface="Calibri"/>
              </a:rPr>
              <a:t>Amit Manchella &amp; Gavin </a:t>
            </a:r>
            <a:r>
              <a:rPr lang="en-US" dirty="0" err="1">
                <a:solidFill>
                  <a:srgbClr val="6B7280"/>
                </a:solidFill>
                <a:latin typeface="Calibri"/>
                <a:cs typeface="Calibri"/>
              </a:rPr>
              <a:t>Fortwendel</a:t>
            </a:r>
            <a:endParaRPr lang="en-US" dirty="0">
              <a:solidFill>
                <a:srgbClr val="6B7280"/>
              </a:solidFill>
              <a:latin typeface="Calibri"/>
              <a:cs typeface="Calibri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2DAFC5C-13DD-D14D-9AFE-7433CBB3DE8B}"/>
              </a:ext>
            </a:extLst>
          </p:cNvPr>
          <p:cNvSpPr txBox="1"/>
          <p:nvPr/>
        </p:nvSpPr>
        <p:spPr>
          <a:xfrm>
            <a:off x="2540000" y="5143500"/>
            <a:ext cx="7112000" cy="4445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>
                <a:solidFill>
                  <a:srgbClr val="374151"/>
                </a:solidFill>
                <a:latin typeface="Calibri"/>
                <a:cs typeface="Calibri"/>
              </a:rPr>
              <a:t>March 14, 2026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F73F3CC-5B90-724D-8DCC-13C82FC99F06}"/>
              </a:ext>
            </a:extLst>
          </p:cNvPr>
          <p:cNvSpPr txBox="1"/>
          <p:nvPr/>
        </p:nvSpPr>
        <p:spPr>
          <a:xfrm>
            <a:off x="11303000" y="6477000"/>
            <a:ext cx="635000" cy="3175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9CA3AF"/>
                </a:solidFill>
                <a:latin typeface="Calibri"/>
                <a:cs typeface="Calibri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2520380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AccentBar"/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wrap="square" lIns="91440" tIns="45720" rIns="91440" bIns="45720" anchor="t"/>
          <a:lstStyle/>
          <a:p>
            <a:endParaRPr lang="en-US" dirty="0"/>
          </a:p>
        </p:txBody>
      </p:sp>
      <p:sp>
        <p:nvSpPr>
          <p:cNvPr id="51" name="Title"/>
          <p:cNvSpPr txBox="1"/>
          <p:nvPr/>
        </p:nvSpPr>
        <p:spPr>
          <a:xfrm>
            <a:off x="508000" y="228600"/>
            <a:ext cx="11176000" cy="533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>
              <a:buNone/>
            </a:pPr>
            <a:r>
              <a:rPr lang="en-US" sz="2800" b="1" dirty="0">
                <a:solidFill>
                  <a:srgbClr val="2563EB"/>
                </a:solidFill>
                <a:latin typeface="Calibri"/>
              </a:rPr>
              <a:t>Motivation: Why Does Operator Order Matter?</a:t>
            </a:r>
          </a:p>
        </p:txBody>
      </p:sp>
      <p:sp>
        <p:nvSpPr>
          <p:cNvPr id="52" name="LeftBox"/>
          <p:cNvSpPr/>
          <p:nvPr/>
        </p:nvSpPr>
        <p:spPr>
          <a:xfrm>
            <a:off x="381000" y="914400"/>
            <a:ext cx="5334000" cy="2667000"/>
          </a:xfrm>
          <a:prstGeom prst="rect">
            <a:avLst/>
          </a:prstGeom>
          <a:solidFill>
            <a:srgbClr val="F3F4F6"/>
          </a:solidFill>
          <a:ln w="15875">
            <a:solidFill>
              <a:srgbClr val="374151"/>
            </a:solidFill>
          </a:ln>
        </p:spPr>
        <p:txBody>
          <a:bodyPr wrap="square" lIns="91440" tIns="45720" rIns="91440" bIns="45720" anchor="t"/>
          <a:lstStyle/>
          <a:p>
            <a:pPr algn="l">
              <a:buNone/>
            </a:pPr>
            <a:r>
              <a:rPr lang="en-US" sz="1400" b="1" dirty="0">
                <a:solidFill>
                  <a:srgbClr val="374151"/>
                </a:solidFill>
                <a:latin typeface="Calibri"/>
              </a:rPr>
              <a:t>Order A: Title Filter → Plot Filter</a:t>
            </a:r>
          </a:p>
          <a:p>
            <a:pPr algn="l">
              <a:buNone/>
            </a:pPr>
            <a:endParaRPr lang="en-US" sz="600" dirty="0"/>
          </a:p>
          <a:p>
            <a:pPr algn="l">
              <a:buNone/>
            </a:pPr>
            <a:r>
              <a:rPr lang="en-US" sz="1400" dirty="0">
                <a:solidFill>
                  <a:srgbClr val="374151"/>
                </a:solidFill>
                <a:latin typeface="Calibri"/>
              </a:rPr>
              <a:t>Step 1: Run AI on 1,000 short movie titles (~5 tokens each) → 800 pass</a:t>
            </a:r>
          </a:p>
          <a:p>
            <a:pPr algn="l">
              <a:buNone/>
            </a:pPr>
            <a:endParaRPr lang="en-US" sz="600" dirty="0"/>
          </a:p>
          <a:p>
            <a:pPr algn="l">
              <a:buNone/>
            </a:pPr>
            <a:r>
              <a:rPr lang="en-US" sz="1400" dirty="0">
                <a:solidFill>
                  <a:srgbClr val="374151"/>
                </a:solidFill>
                <a:latin typeface="Calibri"/>
              </a:rPr>
              <a:t>Step 2: Run AI on 800 long movie plots (~300 tokens each) → 200 pass</a:t>
            </a:r>
          </a:p>
          <a:p>
            <a:pPr algn="l">
              <a:buNone/>
            </a:pPr>
            <a:endParaRPr lang="en-US" sz="600" dirty="0"/>
          </a:p>
          <a:p>
            <a:pPr algn="l">
              <a:buNone/>
            </a:pPr>
            <a:r>
              <a:rPr lang="en-US" sz="1400" b="1" dirty="0">
                <a:solidFill>
                  <a:srgbClr val="16A34A"/>
                </a:solidFill>
                <a:latin typeface="Calibri"/>
              </a:rPr>
              <a:t>✓ Cheaper — short text processed on the larger set</a:t>
            </a:r>
          </a:p>
        </p:txBody>
      </p:sp>
      <p:sp>
        <p:nvSpPr>
          <p:cNvPr id="53" name="RightBox"/>
          <p:cNvSpPr/>
          <p:nvPr/>
        </p:nvSpPr>
        <p:spPr>
          <a:xfrm>
            <a:off x="6477000" y="914400"/>
            <a:ext cx="5334000" cy="2667000"/>
          </a:xfrm>
          <a:prstGeom prst="rect">
            <a:avLst/>
          </a:prstGeom>
          <a:solidFill>
            <a:srgbClr val="FEF2F2"/>
          </a:solidFill>
          <a:ln w="15875">
            <a:solidFill>
              <a:srgbClr val="DC2626"/>
            </a:solidFill>
          </a:ln>
        </p:spPr>
        <p:txBody>
          <a:bodyPr wrap="square" lIns="91440" tIns="45720" rIns="91440" bIns="45720" anchor="t"/>
          <a:lstStyle/>
          <a:p>
            <a:pPr algn="l">
              <a:buNone/>
            </a:pPr>
            <a:r>
              <a:rPr lang="en-US" sz="1400" b="1" dirty="0">
                <a:solidFill>
                  <a:srgbClr val="374151"/>
                </a:solidFill>
                <a:latin typeface="Calibri"/>
              </a:rPr>
              <a:t>Order B: Plot Filter → Title Filter</a:t>
            </a:r>
          </a:p>
          <a:p>
            <a:pPr algn="l">
              <a:buNone/>
            </a:pPr>
            <a:endParaRPr lang="en-US" sz="600" dirty="0"/>
          </a:p>
          <a:p>
            <a:pPr algn="l">
              <a:buNone/>
            </a:pPr>
            <a:r>
              <a:rPr lang="en-US" sz="1400" dirty="0">
                <a:solidFill>
                  <a:srgbClr val="374151"/>
                </a:solidFill>
                <a:latin typeface="Calibri"/>
              </a:rPr>
              <a:t>Step 1: Run AI on 1,000 long movie plots (~300 tokens each) → 200 pass</a:t>
            </a:r>
          </a:p>
          <a:p>
            <a:pPr algn="l">
              <a:buNone/>
            </a:pPr>
            <a:endParaRPr lang="en-US" sz="600" dirty="0"/>
          </a:p>
          <a:p>
            <a:pPr algn="l">
              <a:buNone/>
            </a:pPr>
            <a:r>
              <a:rPr lang="en-US" sz="1400" dirty="0">
                <a:solidFill>
                  <a:srgbClr val="374151"/>
                </a:solidFill>
                <a:latin typeface="Calibri"/>
              </a:rPr>
              <a:t>Step 2: Run AI on 200 short movie titles (~5 tokens each) → 160 pass</a:t>
            </a:r>
          </a:p>
          <a:p>
            <a:pPr algn="l">
              <a:buNone/>
            </a:pPr>
            <a:endParaRPr lang="en-US" sz="600" dirty="0"/>
          </a:p>
          <a:p>
            <a:pPr algn="l">
              <a:buNone/>
            </a:pPr>
            <a:r>
              <a:rPr lang="en-US" sz="1400" b="1" dirty="0">
                <a:solidFill>
                  <a:srgbClr val="DC2626"/>
                </a:solidFill>
                <a:latin typeface="Calibri"/>
              </a:rPr>
              <a:t>✗ Expensive — long text processed on the full 1,000 rows</a:t>
            </a:r>
          </a:p>
        </p:txBody>
      </p:sp>
      <p:sp>
        <p:nvSpPr>
          <p:cNvPr id="54" name="Callout"/>
          <p:cNvSpPr txBox="1"/>
          <p:nvPr/>
        </p:nvSpPr>
        <p:spPr>
          <a:xfrm>
            <a:off x="508000" y="3746500"/>
            <a:ext cx="11176000" cy="457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en-US" sz="1600" b="1" dirty="0">
                <a:solidFill>
                  <a:srgbClr val="2563EB"/>
                </a:solidFill>
                <a:latin typeface="Calibri"/>
              </a:rPr>
              <a:t>Same result. Very different cost. The order matters enormously.</a:t>
            </a:r>
          </a:p>
        </p:txBody>
      </p:sp>
      <p:sp>
        <p:nvSpPr>
          <p:cNvPr id="55" name="Bullets"/>
          <p:cNvSpPr txBox="1"/>
          <p:nvPr/>
        </p:nvSpPr>
        <p:spPr>
          <a:xfrm>
            <a:off x="635000" y="4318000"/>
            <a:ext cx="10922000" cy="19685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marL="228600" indent="-228600" algn="l">
              <a:buFont typeface="Arial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/>
              </a:rPr>
              <a:t>Each filter requires a real LLM (AI) call — these cost real money and time</a:t>
            </a:r>
          </a:p>
          <a:p>
            <a:pPr marL="228600" indent="-228600" algn="l">
              <a:buFont typeface="Arial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/>
              </a:rPr>
              <a:t>A suboptimal ordering on 1,000 rows can waste 5× more tokens and dollars</a:t>
            </a:r>
          </a:p>
          <a:p>
            <a:pPr marL="228600" indent="-228600" algn="l">
              <a:buFont typeface="Arial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/>
              </a:rPr>
              <a:t>Prior systems either ignore this or use expensive trial-and-error to solve it</a:t>
            </a:r>
          </a:p>
        </p:txBody>
      </p:sp>
      <p:sp>
        <p:nvSpPr>
          <p:cNvPr id="56" name="Footer"/>
          <p:cNvSpPr txBox="1"/>
          <p:nvPr/>
        </p:nvSpPr>
        <p:spPr>
          <a:xfrm>
            <a:off x="254000" y="6477000"/>
            <a:ext cx="7620000" cy="3175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b"/>
          <a:lstStyle/>
          <a:p>
            <a:pPr algn="l">
              <a:buNone/>
            </a:pPr>
            <a:r>
              <a:rPr lang="en-US" sz="1000" dirty="0">
                <a:solidFill>
                  <a:srgbClr val="9CA3AF"/>
                </a:solidFill>
                <a:latin typeface="Calibri"/>
              </a:rPr>
              <a:t>SemOrder | CS 59200 - Data Management for AI | Purdue University</a:t>
            </a:r>
          </a:p>
        </p:txBody>
      </p:sp>
      <p:sp>
        <p:nvSpPr>
          <p:cNvPr id="57" name="SlideNum"/>
          <p:cNvSpPr txBox="1"/>
          <p:nvPr/>
        </p:nvSpPr>
        <p:spPr>
          <a:xfrm>
            <a:off x="11430000" y="6477000"/>
            <a:ext cx="635000" cy="3175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b"/>
          <a:lstStyle/>
          <a:p>
            <a:pPr algn="r">
              <a:buNone/>
            </a:pPr>
            <a:r>
              <a:rPr lang="en-US" sz="1000" dirty="0">
                <a:solidFill>
                  <a:srgbClr val="9CA3AF"/>
                </a:solidFill>
                <a:latin typeface="Calibri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7346229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AccentBar"/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wrap="square" lIns="91440" tIns="45720" rIns="91440" bIns="45720" anchor="t"/>
          <a:lstStyle/>
          <a:p>
            <a:endParaRPr lang="en-US" dirty="0"/>
          </a:p>
        </p:txBody>
      </p:sp>
      <p:sp>
        <p:nvSpPr>
          <p:cNvPr id="61" name="Title"/>
          <p:cNvSpPr/>
          <p:nvPr/>
        </p:nvSpPr>
        <p:spPr>
          <a:xfrm>
            <a:off x="508000" y="228600"/>
            <a:ext cx="11176000" cy="533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>
              <a:buNone/>
            </a:pPr>
            <a:r>
              <a:rPr lang="en-US" sz="2800" b="1" dirty="0">
                <a:solidFill>
                  <a:srgbClr val="2563EB"/>
                </a:solidFill>
                <a:latin typeface="Calibri"/>
              </a:rPr>
              <a:t>Problem Definition</a:t>
            </a:r>
          </a:p>
        </p:txBody>
      </p:sp>
      <p:sp>
        <p:nvSpPr>
          <p:cNvPr id="62" name="ProbBox"/>
          <p:cNvSpPr/>
          <p:nvPr/>
        </p:nvSpPr>
        <p:spPr>
          <a:xfrm>
            <a:off x="508000" y="914400"/>
            <a:ext cx="11176000" cy="952500"/>
          </a:xfrm>
          <a:prstGeom prst="rect">
            <a:avLst/>
          </a:prstGeom>
          <a:solidFill>
            <a:srgbClr val="F0F7FF"/>
          </a:solidFill>
          <a:ln w="15875">
            <a:solidFill>
              <a:srgbClr val="2563EB"/>
            </a:solidFill>
          </a:ln>
        </p:spPr>
        <p:txBody>
          <a:bodyPr wrap="square" lIns="91440" tIns="45720" rIns="91440" bIns="45720" anchor="t"/>
          <a:lstStyle/>
          <a:p>
            <a:pPr algn="l">
              <a:buNone/>
            </a:pPr>
            <a:r>
              <a:rPr lang="en-US" sz="1500" i="1" dirty="0">
                <a:solidFill>
                  <a:srgbClr val="374151"/>
                </a:solidFill>
                <a:latin typeface="Calibri"/>
              </a:rPr>
              <a:t>Given a set of semantic operators S = {s₁, s₂, ..., sₙ} and an input relation R, find the permutation of S that minimizes total execution cost (tokens / latency / money) while preserving query correctness.</a:t>
            </a:r>
          </a:p>
        </p:txBody>
      </p:sp>
      <p:sp>
        <p:nvSpPr>
          <p:cNvPr id="63" name="Bullets"/>
          <p:cNvSpPr/>
          <p:nvPr/>
        </p:nvSpPr>
        <p:spPr>
          <a:xfrm>
            <a:off x="508000" y="2006600"/>
            <a:ext cx="11176000" cy="1397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marL="228600" indent="-228600" algn="l">
              <a:buFont typeface="Arial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/>
              </a:rPr>
              <a:t>Semantic operators are logically commutative — any order gives the same final result</a:t>
            </a:r>
          </a:p>
          <a:p>
            <a:pPr marL="228600" indent="-228600" algn="l">
              <a:buFont typeface="Arial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/>
              </a:rPr>
              <a:t>But costs are not symmetric — order dramatically affects total tokens consumed</a:t>
            </a:r>
          </a:p>
          <a:p>
            <a:pPr marL="228600" indent="-228600" algn="l">
              <a:buFont typeface="Arial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/>
              </a:rPr>
              <a:t>Cost depends on three unknown factors: input length, selectivity, and operator accuracy</a:t>
            </a:r>
          </a:p>
        </p:txBody>
      </p:sp>
      <p:graphicFrame>
        <p:nvGraphicFramePr>
          <p:cNvPr id="64" name="Table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0279064"/>
              </p:ext>
            </p:extLst>
          </p:nvPr>
        </p:nvGraphicFramePr>
        <p:xfrm>
          <a:off x="508000" y="3530600"/>
          <a:ext cx="11176000" cy="2222500"/>
        </p:xfrm>
        <a:graphic>
          <a:graphicData uri="http://schemas.openxmlformats.org/drawingml/2006/table">
            <a:tbl>
              <a:tblPr firstRow="1" bandRow="1"/>
              <a:tblGrid>
                <a:gridCol w="254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3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/>
                        </a:rPr>
                        <a:t>Factor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/>
                        </a:rPr>
                        <a:t>Why It Matters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rgbClr val="374151"/>
                          </a:solidFill>
                          <a:latin typeface="Calibri"/>
                        </a:rPr>
                        <a:t>Input length</a:t>
                      </a:r>
                    </a:p>
                  </a:txBody>
                  <a:tcPr anchor="ctr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374151"/>
                          </a:solidFill>
                          <a:latin typeface="Calibri"/>
                        </a:rPr>
                        <a:t>Longer text = more tokens = higher cost per row</a:t>
                      </a:r>
                    </a:p>
                  </a:txBody>
                  <a:tcPr anchor="ctr">
                    <a:solidFill>
                      <a:srgbClr val="F9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rgbClr val="374151"/>
                          </a:solidFill>
                          <a:latin typeface="Calibri"/>
                        </a:rPr>
                        <a:t>Selectivity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374151"/>
                          </a:solidFill>
                          <a:latin typeface="Calibri"/>
                        </a:rPr>
                        <a:t>A highly selective filter applied first reduces rows for all later filters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rgbClr val="374151"/>
                          </a:solidFill>
                          <a:latin typeface="Calibri"/>
                        </a:rPr>
                        <a:t>Accuracy</a:t>
                      </a:r>
                    </a:p>
                  </a:txBody>
                  <a:tcPr anchor="ctr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374151"/>
                          </a:solidFill>
                          <a:latin typeface="Calibri"/>
                        </a:rPr>
                        <a:t>An inaccurate filter may appear selective but produces wrong results</a:t>
                      </a:r>
                    </a:p>
                  </a:txBody>
                  <a:tcPr anchor="ctr">
                    <a:solidFill>
                      <a:srgbClr val="F9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5" name="Footer"/>
          <p:cNvSpPr/>
          <p:nvPr/>
        </p:nvSpPr>
        <p:spPr>
          <a:xfrm>
            <a:off x="254000" y="6477000"/>
            <a:ext cx="7620000" cy="3175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>
              <a:buNone/>
            </a:pPr>
            <a:r>
              <a:rPr lang="en-US" sz="1000" dirty="0">
                <a:solidFill>
                  <a:srgbClr val="9CA3AF"/>
                </a:solidFill>
                <a:latin typeface="Calibri"/>
              </a:rPr>
              <a:t>SemOrder | CS 59200 - Data Management for AI | Purdue University</a:t>
            </a:r>
          </a:p>
        </p:txBody>
      </p:sp>
      <p:sp>
        <p:nvSpPr>
          <p:cNvPr id="66" name="SlideNum"/>
          <p:cNvSpPr/>
          <p:nvPr/>
        </p:nvSpPr>
        <p:spPr>
          <a:xfrm>
            <a:off x="11430000" y="6477000"/>
            <a:ext cx="635000" cy="3175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r">
              <a:buNone/>
            </a:pPr>
            <a:r>
              <a:rPr lang="en-US" sz="1000" dirty="0">
                <a:solidFill>
                  <a:srgbClr val="9CA3AF"/>
                </a:solidFill>
                <a:latin typeface="Calibri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5414420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AccentBar"/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wrap="square" lIns="91440" tIns="45720" rIns="91440" bIns="45720" anchor="t"/>
          <a:lstStyle/>
          <a:p>
            <a:endParaRPr lang="en-US" dirty="0"/>
          </a:p>
        </p:txBody>
      </p:sp>
      <p:sp>
        <p:nvSpPr>
          <p:cNvPr id="71" name="Title"/>
          <p:cNvSpPr/>
          <p:nvPr/>
        </p:nvSpPr>
        <p:spPr>
          <a:xfrm>
            <a:off x="508000" y="228600"/>
            <a:ext cx="11176000" cy="533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>
              <a:buNone/>
            </a:pPr>
            <a:r>
              <a:rPr lang="en-US" sz="2800" b="1" dirty="0">
                <a:solidFill>
                  <a:srgbClr val="2563EB"/>
                </a:solidFill>
                <a:latin typeface="Calibri"/>
              </a:rPr>
              <a:t>Proposed Methodology &amp; Baselines</a:t>
            </a:r>
          </a:p>
        </p:txBody>
      </p:sp>
      <p:sp>
        <p:nvSpPr>
          <p:cNvPr id="72" name="Box1"/>
          <p:cNvSpPr/>
          <p:nvPr/>
        </p:nvSpPr>
        <p:spPr>
          <a:xfrm>
            <a:off x="381000" y="914400"/>
            <a:ext cx="3556000" cy="46990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9CA3AF"/>
            </a:solidFill>
          </a:ln>
        </p:spPr>
        <p:txBody>
          <a:bodyPr wrap="square" lIns="91440" tIns="45720" rIns="91440" bIns="45720" anchor="t"/>
          <a:lstStyle/>
          <a:p>
            <a:pPr algn="l">
              <a:buNone/>
            </a:pPr>
            <a:r>
              <a:rPr lang="en-US" sz="1100" dirty="0">
                <a:solidFill>
                  <a:srgbClr val="6B7280"/>
                </a:solidFill>
                <a:latin typeface="Calibri"/>
              </a:rPr>
              <a:t>Baseline 1 — Prior Work</a:t>
            </a:r>
          </a:p>
          <a:p>
            <a:pPr algn="l">
              <a:buNone/>
            </a:pPr>
            <a:r>
              <a:rPr lang="en-US" sz="1600" b="1" dirty="0">
                <a:solidFill>
                  <a:srgbClr val="374151"/>
                </a:solidFill>
                <a:latin typeface="Calibri"/>
              </a:rPr>
              <a:t>Local Token-Only</a:t>
            </a:r>
          </a:p>
          <a:p>
            <a:pPr marL="171450" indent="-171450" algn="l">
              <a:buFont typeface="Arial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/>
              </a:rPr>
              <a:t>Zero LLM calls for planning</a:t>
            </a:r>
          </a:p>
          <a:p>
            <a:pPr marL="171450" indent="-171450" algn="l">
              <a:buFont typeface="Arial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/>
              </a:rPr>
              <a:t>Estimates cost using only text length</a:t>
            </a:r>
          </a:p>
          <a:p>
            <a:pPr marL="171450" indent="-171450" algn="l">
              <a:buFont typeface="Arial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/>
              </a:rPr>
              <a:t>Ignores selectivity and accuracy</a:t>
            </a:r>
          </a:p>
          <a:p>
            <a:pPr marL="0" indent="0" algn="l">
              <a:buNone/>
            </a:pPr>
            <a:r>
              <a:rPr lang="en-US" sz="1200" b="1" dirty="0">
                <a:solidFill>
                  <a:srgbClr val="DC2626"/>
                </a:solidFill>
                <a:latin typeface="Calibri"/>
              </a:rPr>
              <a:t>✗ Gets ordering wrong when selectivity dominates</a:t>
            </a:r>
          </a:p>
        </p:txBody>
      </p:sp>
      <p:sp>
        <p:nvSpPr>
          <p:cNvPr id="73" name="Box2"/>
          <p:cNvSpPr/>
          <p:nvPr/>
        </p:nvSpPr>
        <p:spPr>
          <a:xfrm>
            <a:off x="4127500" y="914400"/>
            <a:ext cx="3556000" cy="46990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9CA3AF"/>
            </a:solidFill>
          </a:ln>
        </p:spPr>
        <p:txBody>
          <a:bodyPr wrap="square" lIns="91440" tIns="45720" rIns="91440" bIns="45720" anchor="t"/>
          <a:lstStyle/>
          <a:p>
            <a:pPr algn="l">
              <a:buNone/>
            </a:pPr>
            <a:r>
              <a:rPr lang="en-US" sz="1100" dirty="0">
                <a:solidFill>
                  <a:srgbClr val="6B7280"/>
                </a:solidFill>
                <a:latin typeface="Calibri"/>
              </a:rPr>
              <a:t>Baseline 2 — AERO</a:t>
            </a:r>
          </a:p>
          <a:p>
            <a:pPr algn="l">
              <a:buNone/>
            </a:pPr>
            <a:r>
              <a:rPr lang="en-US" sz="1600" b="1" dirty="0">
                <a:solidFill>
                  <a:srgbClr val="374151"/>
                </a:solidFill>
                <a:latin typeface="Calibri"/>
              </a:rPr>
              <a:t>Adaptive Sampling</a:t>
            </a:r>
          </a:p>
          <a:p>
            <a:pPr marL="171450" indent="-171450" algn="l">
              <a:buFont typeface="Arial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/>
              </a:rPr>
              <a:t>Runs full LLM calls during execution to learn statistics</a:t>
            </a:r>
          </a:p>
          <a:p>
            <a:pPr marL="171450" indent="-171450" algn="l">
              <a:buFont typeface="Arial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/>
              </a:rPr>
              <a:t>Adapts ordering online as data accumulates</a:t>
            </a:r>
          </a:p>
          <a:p>
            <a:pPr marL="0" indent="0" algn="l">
              <a:buNone/>
            </a:pPr>
            <a:r>
              <a:rPr lang="en-US" sz="1200" b="1" dirty="0">
                <a:solidFill>
                  <a:srgbClr val="DC2626"/>
                </a:solidFill>
                <a:latin typeface="Calibri"/>
              </a:rPr>
              <a:t>✗ Expensive startup overhead — pays full cost just for planning</a:t>
            </a:r>
          </a:p>
        </p:txBody>
      </p:sp>
      <p:sp>
        <p:nvSpPr>
          <p:cNvPr id="74" name="Box3"/>
          <p:cNvSpPr/>
          <p:nvPr/>
        </p:nvSpPr>
        <p:spPr>
          <a:xfrm>
            <a:off x="7874000" y="914400"/>
            <a:ext cx="3556000" cy="469900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2563EB"/>
            </a:solidFill>
          </a:ln>
        </p:spPr>
        <p:txBody>
          <a:bodyPr wrap="square" lIns="91440" tIns="45720" rIns="91440" bIns="45720" anchor="t"/>
          <a:lstStyle/>
          <a:p>
            <a:pPr algn="l">
              <a:buNone/>
            </a:pPr>
            <a:r>
              <a:rPr lang="en-US" sz="1100" dirty="0">
                <a:solidFill>
                  <a:srgbClr val="2563EB"/>
                </a:solidFill>
                <a:latin typeface="Calibri"/>
              </a:rPr>
              <a:t>Our Contribution</a:t>
            </a:r>
          </a:p>
          <a:p>
            <a:pPr algn="l">
              <a:buNone/>
            </a:pPr>
            <a:r>
              <a:rPr lang="en-US" sz="1600" b="1" dirty="0">
                <a:solidFill>
                  <a:srgbClr val="2563EB"/>
                </a:solidFill>
                <a:latin typeface="Calibri"/>
              </a:rPr>
              <a:t>Bounded Small-Sample Estimation</a:t>
            </a:r>
          </a:p>
          <a:p>
            <a:pPr marL="171450" indent="-171450" algn="l">
              <a:buFont typeface="Arial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/>
              </a:rPr>
              <a:t>Runs LLM on just 10–20 sample rows per operator before execution</a:t>
            </a:r>
          </a:p>
          <a:p>
            <a:pPr marL="171450" indent="-171450" algn="l">
              <a:buFont typeface="Arial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/>
              </a:rPr>
              <a:t>Estimates selectivity + accuracy + token cost from those samples</a:t>
            </a:r>
          </a:p>
          <a:p>
            <a:pPr marL="171450" indent="-171450" algn="l">
              <a:buFont typeface="Arial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/>
              </a:rPr>
              <a:t>Uses all three factors jointly to pick optimal ordering</a:t>
            </a:r>
          </a:p>
          <a:p>
            <a:pPr marL="0" indent="0" algn="l">
              <a:buNone/>
            </a:pPr>
            <a:r>
              <a:rPr lang="en-US" sz="1200" b="1" dirty="0">
                <a:solidFill>
                  <a:srgbClr val="16A34A"/>
                </a:solidFill>
                <a:latin typeface="Calibri"/>
              </a:rPr>
              <a:t>✓ Fixed planning cost regardless of table size</a:t>
            </a:r>
          </a:p>
          <a:p>
            <a:pPr marL="0" indent="0" algn="l">
              <a:buNone/>
            </a:pPr>
            <a:r>
              <a:rPr lang="en-US" sz="1200" b="1" dirty="0">
                <a:solidFill>
                  <a:srgbClr val="16A34A"/>
                </a:solidFill>
                <a:latin typeface="Calibri"/>
              </a:rPr>
              <a:t>✓ More informed than Baseline 1, cheaper than Baseline 2</a:t>
            </a:r>
          </a:p>
        </p:txBody>
      </p:sp>
      <p:sp>
        <p:nvSpPr>
          <p:cNvPr id="75" name="Footer"/>
          <p:cNvSpPr/>
          <p:nvPr/>
        </p:nvSpPr>
        <p:spPr>
          <a:xfrm>
            <a:off x="254000" y="6477000"/>
            <a:ext cx="7620000" cy="3175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>
              <a:buNone/>
            </a:pPr>
            <a:r>
              <a:rPr lang="en-US" sz="1000" dirty="0">
                <a:solidFill>
                  <a:srgbClr val="9CA3AF"/>
                </a:solidFill>
                <a:latin typeface="Calibri"/>
              </a:rPr>
              <a:t>SemOrder | CS 59200 - Data Management for AI | Purdue University</a:t>
            </a:r>
          </a:p>
        </p:txBody>
      </p:sp>
      <p:sp>
        <p:nvSpPr>
          <p:cNvPr id="76" name="SlideNum"/>
          <p:cNvSpPr/>
          <p:nvPr/>
        </p:nvSpPr>
        <p:spPr>
          <a:xfrm>
            <a:off x="11430000" y="6477000"/>
            <a:ext cx="635000" cy="3175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r">
              <a:buNone/>
            </a:pPr>
            <a:r>
              <a:rPr lang="en-US" sz="1000" dirty="0">
                <a:solidFill>
                  <a:srgbClr val="9CA3AF"/>
                </a:solidFill>
                <a:latin typeface="Calibri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5374241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AccentBar"/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wrap="square" lIns="91440" tIns="45720" rIns="91440" bIns="45720" anchor="t"/>
          <a:lstStyle/>
          <a:p>
            <a:endParaRPr lang="en-US" dirty="0"/>
          </a:p>
        </p:txBody>
      </p:sp>
      <p:sp>
        <p:nvSpPr>
          <p:cNvPr id="81" name="Title"/>
          <p:cNvSpPr/>
          <p:nvPr/>
        </p:nvSpPr>
        <p:spPr>
          <a:xfrm>
            <a:off x="508000" y="228600"/>
            <a:ext cx="11176000" cy="533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>
              <a:buNone/>
            </a:pPr>
            <a:r>
              <a:rPr lang="en-US" sz="2800" b="1" dirty="0">
                <a:solidFill>
                  <a:srgbClr val="2563EB"/>
                </a:solidFill>
                <a:latin typeface="Calibri"/>
              </a:rPr>
              <a:t>Evaluation Plan</a:t>
            </a:r>
          </a:p>
        </p:txBody>
      </p:sp>
      <p:sp>
        <p:nvSpPr>
          <p:cNvPr id="84" name="Footer"/>
          <p:cNvSpPr/>
          <p:nvPr/>
        </p:nvSpPr>
        <p:spPr>
          <a:xfrm>
            <a:off x="254000" y="6477000"/>
            <a:ext cx="7620000" cy="3175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>
              <a:buNone/>
            </a:pPr>
            <a:r>
              <a:rPr lang="en-US" sz="1000" dirty="0">
                <a:solidFill>
                  <a:srgbClr val="9CA3AF"/>
                </a:solidFill>
                <a:latin typeface="Calibri"/>
              </a:rPr>
              <a:t>SemOrder | CS 59200 - Data Management for AI | Purdue University</a:t>
            </a:r>
          </a:p>
        </p:txBody>
      </p:sp>
      <p:sp>
        <p:nvSpPr>
          <p:cNvPr id="85" name="SlideNum"/>
          <p:cNvSpPr/>
          <p:nvPr/>
        </p:nvSpPr>
        <p:spPr>
          <a:xfrm>
            <a:off x="11430000" y="6477000"/>
            <a:ext cx="635000" cy="3175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r">
              <a:buNone/>
            </a:pPr>
            <a:r>
              <a:rPr lang="en-US" sz="1000" dirty="0">
                <a:solidFill>
                  <a:srgbClr val="9CA3AF"/>
                </a:solidFill>
                <a:latin typeface="Calibri"/>
              </a:rPr>
              <a:t>5</a:t>
            </a:r>
          </a:p>
        </p:txBody>
      </p:sp>
      <p:sp>
        <p:nvSpPr>
          <p:cNvPr id="201" name="CardBody200"/>
          <p:cNvSpPr/>
          <p:nvPr/>
        </p:nvSpPr>
        <p:spPr>
          <a:xfrm>
            <a:off x="508000" y="1219200"/>
            <a:ext cx="5499100" cy="24384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lIns="91440" tIns="63500" rIns="91440" bIns="45720" anchor="t"/>
          <a:lstStyle/>
          <a:p>
            <a:pPr marL="171450" indent="-171450" algn="l">
              <a:buFont typeface="Arial"/>
              <a:buChar char="•"/>
            </a:pPr>
            <a:r>
              <a:rPr lang="en-US" sz="1300" dirty="0">
                <a:solidFill>
                  <a:srgbClr val="374151"/>
                </a:solidFill>
                <a:latin typeface="Calibri"/>
              </a:rPr>
              <a:t>IMDB movie database via the Join Order Benchmark (JOB)</a:t>
            </a:r>
          </a:p>
          <a:p>
            <a:pPr marL="171450" indent="-171450" algn="l">
              <a:buFont typeface="Arial"/>
              <a:buChar char="•"/>
            </a:pPr>
            <a:r>
              <a:rPr lang="en-US" sz="1300" dirty="0">
                <a:solidFill>
                  <a:srgbClr val="374151"/>
                </a:solidFill>
                <a:latin typeface="Calibri"/>
              </a:rPr>
              <a:t>1,000 movies per configuration</a:t>
            </a:r>
          </a:p>
          <a:p>
            <a:pPr marL="171450" indent="-171450" algn="l">
              <a:buFont typeface="Arial"/>
              <a:buChar char="•"/>
            </a:pPr>
            <a:r>
              <a:rPr lang="en-US" sz="1300" dirty="0">
                <a:solidFill>
                  <a:srgbClr val="374151"/>
                </a:solidFill>
                <a:latin typeface="Calibri"/>
              </a:rPr>
              <a:t>25 configurations: language selectivity × genre selectivity at {0%, 25%, 50%, 75%, 100%}</a:t>
            </a:r>
          </a:p>
          <a:p>
            <a:pPr marL="171450" indent="-171450" algn="l">
              <a:buFont typeface="Arial"/>
              <a:buChar char="•"/>
            </a:pPr>
            <a:r>
              <a:rPr lang="en-US" sz="1300" dirty="0">
                <a:solidFill>
                  <a:srgbClr val="374151"/>
                </a:solidFill>
                <a:latin typeface="Calibri"/>
              </a:rPr>
              <a:t>Two text attributes: short title (~5 tokens) and long plot summary (~300 tokens)</a:t>
            </a:r>
          </a:p>
        </p:txBody>
      </p:sp>
      <p:sp>
        <p:nvSpPr>
          <p:cNvPr id="211" name="CardBody210"/>
          <p:cNvSpPr/>
          <p:nvPr/>
        </p:nvSpPr>
        <p:spPr>
          <a:xfrm>
            <a:off x="6184900" y="1219200"/>
            <a:ext cx="5499100" cy="24384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lIns="91440" tIns="63500" rIns="91440" bIns="45720" anchor="t"/>
          <a:lstStyle/>
          <a:p>
            <a:pPr marL="171450" indent="-171450" algn="l">
              <a:buFont typeface="Arial"/>
              <a:buChar char="•"/>
            </a:pPr>
            <a:r>
              <a:rPr lang="en-US" sz="1300" dirty="0">
                <a:solidFill>
                  <a:srgbClr val="374151"/>
                </a:solidFill>
                <a:latin typeface="Calibri"/>
              </a:rPr>
              <a:t>GPT-4o-mini (remote API): monetary cost and token experiments</a:t>
            </a:r>
          </a:p>
          <a:p>
            <a:pPr marL="171450" indent="-171450" algn="l">
              <a:buFont typeface="Arial"/>
              <a:buChar char="•"/>
            </a:pPr>
            <a:r>
              <a:rPr lang="en-US" sz="1300" dirty="0">
                <a:solidFill>
                  <a:srgbClr val="374151"/>
                </a:solidFill>
                <a:latin typeface="Calibri"/>
              </a:rPr>
              <a:t>Llama 3.1-8B (local on Chameleon GPU): latency and compute experiments</a:t>
            </a:r>
          </a:p>
        </p:txBody>
      </p:sp>
      <p:sp>
        <p:nvSpPr>
          <p:cNvPr id="221" name="CardBody220"/>
          <p:cNvSpPr/>
          <p:nvPr/>
        </p:nvSpPr>
        <p:spPr>
          <a:xfrm>
            <a:off x="508000" y="4216400"/>
            <a:ext cx="5499100" cy="20320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lIns="91440" tIns="63500" rIns="91440" bIns="45720" anchor="t"/>
          <a:lstStyle/>
          <a:p>
            <a:pPr marL="171450" indent="-171450" algn="l">
              <a:buFont typeface="Arial"/>
              <a:buChar char="•"/>
            </a:pPr>
            <a:r>
              <a:rPr lang="en-US" sz="1300" dirty="0">
                <a:solidFill>
                  <a:srgbClr val="374151"/>
                </a:solidFill>
                <a:latin typeface="Calibri"/>
              </a:rPr>
              <a:t>Total tokens consumed, total latency, total monetary cost</a:t>
            </a:r>
          </a:p>
          <a:p>
            <a:pPr marL="171450" indent="-171450" algn="l">
              <a:buFont typeface="Arial"/>
              <a:buChar char="•"/>
            </a:pPr>
            <a:r>
              <a:rPr lang="en-US" sz="1300" dirty="0">
                <a:solidFill>
                  <a:srgbClr val="374151"/>
                </a:solidFill>
                <a:latin typeface="Calibri"/>
              </a:rPr>
              <a:t>Ordering decision accuracy vs. oracle (ground truth optimal order)</a:t>
            </a:r>
          </a:p>
          <a:p>
            <a:pPr marL="171450" indent="-171450" algn="l">
              <a:buFont typeface="Arial"/>
              <a:buChar char="•"/>
            </a:pPr>
            <a:r>
              <a:rPr lang="en-US" sz="1300" dirty="0">
                <a:solidFill>
                  <a:srgbClr val="374151"/>
                </a:solidFill>
                <a:latin typeface="Calibri"/>
              </a:rPr>
              <a:t>Three-way comparison per config: Local-Only vs. Small-Sample (ours) vs. Oracle</a:t>
            </a:r>
          </a:p>
        </p:txBody>
      </p:sp>
      <p:sp>
        <p:nvSpPr>
          <p:cNvPr id="231" name="CardBody230"/>
          <p:cNvSpPr/>
          <p:nvPr/>
        </p:nvSpPr>
        <p:spPr>
          <a:xfrm>
            <a:off x="6184900" y="4216400"/>
            <a:ext cx="5499100" cy="20320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lIns="91440" tIns="63500" rIns="91440" bIns="45720" anchor="t"/>
          <a:lstStyle/>
          <a:p>
            <a:pPr marL="171450" indent="-171450" algn="l">
              <a:buFont typeface="Arial"/>
              <a:buChar char="•"/>
            </a:pPr>
            <a:r>
              <a:rPr lang="en-US" sz="1300" dirty="0">
                <a:solidFill>
                  <a:srgbClr val="374151"/>
                </a:solidFill>
                <a:latin typeface="Calibri"/>
              </a:rPr>
              <a:t>Vary sample budget: 5, 10, 20 tuples</a:t>
            </a:r>
          </a:p>
          <a:p>
            <a:pPr marL="171450" indent="-171450" algn="l">
              <a:buFont typeface="Arial"/>
              <a:buChar char="•"/>
            </a:pPr>
            <a:r>
              <a:rPr lang="en-US" sz="1300" dirty="0">
                <a:solidFill>
                  <a:srgbClr val="374151"/>
                </a:solidFill>
                <a:latin typeface="Calibri"/>
              </a:rPr>
              <a:t>Plot: ordering accuracy vs. planning cost tradeoff curve</a:t>
            </a:r>
          </a:p>
        </p:txBody>
      </p:sp>
      <p:sp>
        <p:nvSpPr>
          <p:cNvPr id="200" name="CardHeader200"/>
          <p:cNvSpPr/>
          <p:nvPr/>
        </p:nvSpPr>
        <p:spPr>
          <a:xfrm>
            <a:off x="508000" y="863600"/>
            <a:ext cx="5499100" cy="406400"/>
          </a:xfrm>
          <a:prstGeom prst="roundRect">
            <a:avLst>
              <a:gd name="adj" fmla="val 10000"/>
            </a:avLst>
          </a:prstGeom>
          <a:solidFill>
            <a:srgbClr val="2563EB"/>
          </a:solidFill>
          <a:ln>
            <a:noFill/>
          </a:ln>
        </p:spPr>
        <p:txBody>
          <a:bodyPr wrap="square" lIns="114300" tIns="27000" rIns="91440" bIns="18000" anchor="ctr"/>
          <a:lstStyle/>
          <a:p>
            <a:pPr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/>
              </a:rPr>
              <a:t>Dataset</a:t>
            </a:r>
          </a:p>
        </p:txBody>
      </p:sp>
      <p:sp>
        <p:nvSpPr>
          <p:cNvPr id="210" name="CardHeader210"/>
          <p:cNvSpPr/>
          <p:nvPr/>
        </p:nvSpPr>
        <p:spPr>
          <a:xfrm>
            <a:off x="6184900" y="863600"/>
            <a:ext cx="5499100" cy="406400"/>
          </a:xfrm>
          <a:prstGeom prst="roundRect">
            <a:avLst>
              <a:gd name="adj" fmla="val 10000"/>
            </a:avLst>
          </a:prstGeom>
          <a:solidFill>
            <a:srgbClr val="2563EB"/>
          </a:solidFill>
          <a:ln>
            <a:noFill/>
          </a:ln>
        </p:spPr>
        <p:txBody>
          <a:bodyPr wrap="square" lIns="114300" tIns="27000" rIns="91440" bIns="18000" anchor="ctr"/>
          <a:lstStyle/>
          <a:p>
            <a:pPr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/>
              </a:rPr>
              <a:t>Models</a:t>
            </a:r>
          </a:p>
        </p:txBody>
      </p:sp>
      <p:sp>
        <p:nvSpPr>
          <p:cNvPr id="220" name="CardHeader220"/>
          <p:cNvSpPr/>
          <p:nvPr/>
        </p:nvSpPr>
        <p:spPr>
          <a:xfrm>
            <a:off x="508000" y="3860800"/>
            <a:ext cx="5499100" cy="406400"/>
          </a:xfrm>
          <a:prstGeom prst="roundRect">
            <a:avLst>
              <a:gd name="adj" fmla="val 10000"/>
            </a:avLst>
          </a:prstGeom>
          <a:solidFill>
            <a:srgbClr val="2563EB"/>
          </a:solidFill>
          <a:ln>
            <a:noFill/>
          </a:ln>
        </p:spPr>
        <p:txBody>
          <a:bodyPr wrap="square" lIns="114300" tIns="27000" rIns="91440" bIns="18000" anchor="ctr"/>
          <a:lstStyle/>
          <a:p>
            <a:pPr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/>
              </a:rPr>
              <a:t>Metrics &amp; Comparison</a:t>
            </a:r>
          </a:p>
        </p:txBody>
      </p:sp>
      <p:sp>
        <p:nvSpPr>
          <p:cNvPr id="230" name="CardHeader230"/>
          <p:cNvSpPr/>
          <p:nvPr/>
        </p:nvSpPr>
        <p:spPr>
          <a:xfrm>
            <a:off x="6184900" y="3860800"/>
            <a:ext cx="5499100" cy="406400"/>
          </a:xfrm>
          <a:prstGeom prst="roundRect">
            <a:avLst>
              <a:gd name="adj" fmla="val 10000"/>
            </a:avLst>
          </a:prstGeom>
          <a:solidFill>
            <a:srgbClr val="2563EB"/>
          </a:solidFill>
          <a:ln>
            <a:noFill/>
          </a:ln>
        </p:spPr>
        <p:txBody>
          <a:bodyPr wrap="square" lIns="114300" tIns="27000" rIns="91440" bIns="18000" anchor="ctr"/>
          <a:lstStyle/>
          <a:p>
            <a:pPr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/>
              </a:rPr>
              <a:t>Ablation Study</a:t>
            </a:r>
          </a:p>
        </p:txBody>
      </p:sp>
    </p:spTree>
    <p:extLst>
      <p:ext uri="{BB962C8B-B14F-4D97-AF65-F5344CB8AC3E}">
        <p14:creationId xmlns:p14="http://schemas.microsoft.com/office/powerpoint/2010/main" val="30412937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AccentBar"/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wrap="square" lIns="91440" tIns="45720" rIns="91440" bIns="45720" anchor="t"/>
          <a:lstStyle/>
          <a:p>
            <a:endParaRPr lang="en-US" dirty="0"/>
          </a:p>
        </p:txBody>
      </p:sp>
      <p:sp>
        <p:nvSpPr>
          <p:cNvPr id="91" name="Title"/>
          <p:cNvSpPr/>
          <p:nvPr/>
        </p:nvSpPr>
        <p:spPr>
          <a:xfrm>
            <a:off x="508000" y="228600"/>
            <a:ext cx="11176000" cy="533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>
              <a:buNone/>
            </a:pPr>
            <a:r>
              <a:rPr lang="en-US" sz="2800" b="1" dirty="0">
                <a:solidFill>
                  <a:srgbClr val="2563EB"/>
                </a:solidFill>
                <a:latin typeface="Calibri"/>
              </a:rPr>
              <a:t>Updated Project Timeline</a:t>
            </a:r>
          </a:p>
        </p:txBody>
      </p:sp>
      <p:graphicFrame>
        <p:nvGraphicFramePr>
          <p:cNvPr id="92" name="TimelineTable"/>
          <p:cNvGraphicFramePr>
            <a:graphicFrameLocks noGrp="1"/>
          </p:cNvGraphicFramePr>
          <p:nvPr/>
        </p:nvGraphicFramePr>
        <p:xfrm>
          <a:off x="508000" y="863600"/>
          <a:ext cx="11176000" cy="4508500"/>
        </p:xfrm>
        <a:graphic>
          <a:graphicData uri="http://schemas.openxmlformats.org/drawingml/2006/table">
            <a:tbl>
              <a:tblPr firstRow="1" bandRow="1"/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09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44500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/>
                        </a:rPr>
                        <a:t>Week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/>
                        </a:rPr>
                        <a:t>Dates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/>
                        </a:rPr>
                        <a:t>Tasks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/>
                        </a:rPr>
                        <a:t>Week 9</a:t>
                      </a:r>
                    </a:p>
                  </a:txBody>
                  <a:tcPr anchor="ctr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/>
                        </a:rPr>
                        <a:t>Mar 10–14</a:t>
                      </a:r>
                    </a:p>
                  </a:txBody>
                  <a:tcPr anchor="ctr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/>
                        </a:rPr>
                        <a:t>Midterm presentation, read professor's papers, repo and environment setup</a:t>
                      </a:r>
                    </a:p>
                  </a:txBody>
                  <a:tcPr anchor="ctr">
                    <a:solidFill>
                      <a:srgbClr val="F9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/>
                        </a:rPr>
                        <a:t>Week 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/>
                        </a:rPr>
                        <a:t>Mar 17–21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/>
                        </a:rPr>
                        <a:t>Data pipeline, LLM wrappers, reimplement local cost model baseline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/>
                        </a:rPr>
                        <a:t>Week 11</a:t>
                      </a:r>
                    </a:p>
                  </a:txBody>
                  <a:tcPr anchor="ctr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/>
                        </a:rPr>
                        <a:t>Mar 24–28</a:t>
                      </a:r>
                    </a:p>
                  </a:txBody>
                  <a:tcPr anchor="ctr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/>
                        </a:rPr>
                        <a:t>Reproduce prior paper results on IMDB/JOB dataset</a:t>
                      </a:r>
                    </a:p>
                  </a:txBody>
                  <a:tcPr anchor="ctr">
                    <a:solidFill>
                      <a:srgbClr val="F9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/>
                        </a:rPr>
                        <a:t>Week 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/>
                        </a:rPr>
                        <a:t>Mar 31–Apr 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/>
                        </a:rPr>
                        <a:t>Implement small-sample estimator, integrate selectivity and accuracy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/>
                        </a:rPr>
                        <a:t>Week 13</a:t>
                      </a:r>
                    </a:p>
                  </a:txBody>
                  <a:tcPr anchor="ctr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/>
                        </a:rPr>
                        <a:t>Apr 7–11</a:t>
                      </a:r>
                    </a:p>
                  </a:txBody>
                  <a:tcPr anchor="ctr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/>
                        </a:rPr>
                        <a:t>Full experiments across all 25 configurations, generate result figures</a:t>
                      </a:r>
                    </a:p>
                  </a:txBody>
                  <a:tcPr anchor="ctr">
                    <a:solidFill>
                      <a:srgbClr val="F9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/>
                        </a:rPr>
                        <a:t>Week 14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/>
                        </a:rPr>
                        <a:t>Apr 14–18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/>
                        </a:rPr>
                        <a:t>Ablation study, tradeoff curve analysis, write-up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/>
                        </a:rPr>
                        <a:t>Week 15</a:t>
                      </a:r>
                    </a:p>
                  </a:txBody>
                  <a:tcPr anchor="ctr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/>
                        </a:rPr>
                        <a:t>Apr 21–25</a:t>
                      </a:r>
                    </a:p>
                  </a:txBody>
                  <a:tcPr anchor="ctr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/>
                        </a:rPr>
                        <a:t>Final report completion in Overleaf, figure polish</a:t>
                      </a:r>
                    </a:p>
                  </a:txBody>
                  <a:tcPr anchor="ctr">
                    <a:solidFill>
                      <a:srgbClr val="F9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/>
                        </a:rPr>
                        <a:t>Week 16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/>
                        </a:rPr>
                        <a:t>Apr 28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/>
                        </a:rPr>
                        <a:t>Submit final report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93" name="KeyRisk"/>
          <p:cNvSpPr/>
          <p:nvPr/>
        </p:nvSpPr>
        <p:spPr>
          <a:xfrm>
            <a:off x="508000" y="5562600"/>
            <a:ext cx="11176000" cy="508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>
              <a:buNone/>
            </a:pPr>
            <a:r>
              <a:rPr lang="en-US" sz="1400" b="1" dirty="0">
                <a:solidFill>
                  <a:srgbClr val="2563EB"/>
                </a:solidFill>
                <a:latin typeface="Calibri"/>
              </a:rPr>
              <a:t>Key Risk: Infrastructure setup (Chameleon GPU + LLM API wiring) — starting immediately this week.</a:t>
            </a:r>
          </a:p>
        </p:txBody>
      </p:sp>
      <p:sp>
        <p:nvSpPr>
          <p:cNvPr id="94" name="Footer"/>
          <p:cNvSpPr/>
          <p:nvPr/>
        </p:nvSpPr>
        <p:spPr>
          <a:xfrm>
            <a:off x="254000" y="6477000"/>
            <a:ext cx="7620000" cy="3175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>
              <a:buNone/>
            </a:pPr>
            <a:r>
              <a:rPr lang="en-US" sz="1000" dirty="0">
                <a:solidFill>
                  <a:srgbClr val="9CA3AF"/>
                </a:solidFill>
                <a:latin typeface="Calibri"/>
              </a:rPr>
              <a:t>SemOrder | CS 59200 - Data Management for AI | Purdue University</a:t>
            </a:r>
          </a:p>
        </p:txBody>
      </p:sp>
      <p:sp>
        <p:nvSpPr>
          <p:cNvPr id="95" name="SlideNum"/>
          <p:cNvSpPr/>
          <p:nvPr/>
        </p:nvSpPr>
        <p:spPr>
          <a:xfrm>
            <a:off x="11430000" y="6477000"/>
            <a:ext cx="635000" cy="3175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r">
              <a:buNone/>
            </a:pPr>
            <a:r>
              <a:rPr lang="en-US" sz="1000" dirty="0">
                <a:solidFill>
                  <a:srgbClr val="9CA3AF"/>
                </a:solidFill>
                <a:latin typeface="Calibri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39311262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AccentBar"/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wrap="square" lIns="91440" tIns="45720" rIns="91440" bIns="45720" anchor="t"/>
          <a:lstStyle/>
          <a:p>
            <a:endParaRPr lang="en-US" dirty="0"/>
          </a:p>
        </p:txBody>
      </p:sp>
      <p:sp>
        <p:nvSpPr>
          <p:cNvPr id="101" name="Title"/>
          <p:cNvSpPr/>
          <p:nvPr/>
        </p:nvSpPr>
        <p:spPr>
          <a:xfrm>
            <a:off x="508000" y="228600"/>
            <a:ext cx="11176000" cy="533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>
              <a:buNone/>
            </a:pPr>
            <a:r>
              <a:rPr lang="en-US" sz="2800" b="1" dirty="0">
                <a:solidFill>
                  <a:srgbClr val="2563EB"/>
                </a:solidFill>
                <a:latin typeface="Calibri"/>
              </a:rPr>
              <a:t>Final Report Draft Status</a:t>
            </a:r>
          </a:p>
        </p:txBody>
      </p:sp>
      <p:graphicFrame>
        <p:nvGraphicFramePr>
          <p:cNvPr id="102" name="StatusTable"/>
          <p:cNvGraphicFramePr>
            <a:graphicFrameLocks noGrp="1"/>
          </p:cNvGraphicFramePr>
          <p:nvPr/>
        </p:nvGraphicFramePr>
        <p:xfrm>
          <a:off x="508000" y="863600"/>
          <a:ext cx="11176000" cy="3200400"/>
        </p:xfrm>
        <a:graphic>
          <a:graphicData uri="http://schemas.openxmlformats.org/drawingml/2006/table">
            <a:tbl>
              <a:tblPr firstRow="1" bandRow="1"/>
              <a:tblGrid>
                <a:gridCol w="698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9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/>
                        </a:rPr>
                        <a:t>Report Section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374151"/>
                          </a:solidFill>
                          <a:latin typeface="Calibri"/>
                        </a:rPr>
                        <a:t>Introduction</a:t>
                      </a:r>
                    </a:p>
                  </a:txBody>
                  <a:tcPr anchor="ctr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374151"/>
                          </a:solidFill>
                          <a:latin typeface="Calibri"/>
                        </a:rPr>
                        <a:t>🔵 In Progress</a:t>
                      </a:r>
                    </a:p>
                  </a:txBody>
                  <a:tcPr anchor="ctr">
                    <a:solidFill>
                      <a:srgbClr val="F9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374151"/>
                          </a:solidFill>
                          <a:latin typeface="Calibri"/>
                        </a:rPr>
                        <a:t>Related Work (AERO, Palimpzest, JOB paper, arxiv papers)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374151"/>
                          </a:solidFill>
                          <a:latin typeface="Calibri"/>
                        </a:rPr>
                        <a:t>🔵 In Progress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374151"/>
                          </a:solidFill>
                          <a:latin typeface="Calibri"/>
                        </a:rPr>
                        <a:t>System Design &amp; Methodology</a:t>
                      </a:r>
                    </a:p>
                  </a:txBody>
                  <a:tcPr anchor="ctr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374151"/>
                          </a:solidFill>
                          <a:latin typeface="Calibri"/>
                        </a:rPr>
                        <a:t>⚪ Not Started</a:t>
                      </a:r>
                    </a:p>
                  </a:txBody>
                  <a:tcPr anchor="ctr">
                    <a:solidFill>
                      <a:srgbClr val="F9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374151"/>
                          </a:solidFill>
                          <a:latin typeface="Calibri"/>
                        </a:rPr>
                        <a:t>Experimental Setup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374151"/>
                          </a:solidFill>
                          <a:latin typeface="Calibri"/>
                        </a:rPr>
                        <a:t>⚪ Not Started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374151"/>
                          </a:solidFill>
                          <a:latin typeface="Calibri"/>
                        </a:rPr>
                        <a:t>Results &amp; Analysis</a:t>
                      </a:r>
                    </a:p>
                  </a:txBody>
                  <a:tcPr anchor="ctr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374151"/>
                          </a:solidFill>
                          <a:latin typeface="Calibri"/>
                        </a:rPr>
                        <a:t>⚪ Not Started</a:t>
                      </a:r>
                    </a:p>
                  </a:txBody>
                  <a:tcPr anchor="ctr">
                    <a:solidFill>
                      <a:srgbClr val="F9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374151"/>
                          </a:solidFill>
                          <a:latin typeface="Calibri"/>
                        </a:rPr>
                        <a:t>Conclusion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374151"/>
                          </a:solidFill>
                          <a:latin typeface="Calibri"/>
                        </a:rPr>
                        <a:t>⚪ Not Started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03" name="NoteBox"/>
          <p:cNvSpPr/>
          <p:nvPr/>
        </p:nvSpPr>
        <p:spPr>
          <a:xfrm>
            <a:off x="508000" y="4254500"/>
            <a:ext cx="11176000" cy="762000"/>
          </a:xfrm>
          <a:prstGeom prst="rect">
            <a:avLst/>
          </a:prstGeom>
          <a:solidFill>
            <a:srgbClr val="EFF6FF"/>
          </a:solidFill>
          <a:ln w="9525">
            <a:solidFill>
              <a:srgbClr val="2563EB"/>
            </a:solidFill>
          </a:ln>
        </p:spPr>
        <p:txBody>
          <a:bodyPr wrap="square" lIns="91440" tIns="45720" rIns="91440" bIns="45720" anchor="t"/>
          <a:lstStyle/>
          <a:p>
            <a:pPr algn="l">
              <a:buNone/>
            </a:pPr>
            <a:r>
              <a:rPr lang="en-US" sz="1400" i="1" dirty="0">
                <a:solidFill>
                  <a:srgbClr val="374151"/>
                </a:solidFill>
                <a:latin typeface="Calibri"/>
              </a:rPr>
              <a:t>Introduction and Related Work are the current focus — covering the JOB benchmark, AERO, Palimpzest, and the two most recent arxiv papers provided by the professor.</a:t>
            </a:r>
          </a:p>
        </p:txBody>
      </p:sp>
      <p:sp>
        <p:nvSpPr>
          <p:cNvPr id="104" name="DraftLine"/>
          <p:cNvSpPr/>
          <p:nvPr/>
        </p:nvSpPr>
        <p:spPr>
          <a:xfrm>
            <a:off x="508000" y="5207000"/>
            <a:ext cx="11176000" cy="4445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>
              <a:buNone/>
            </a:pPr>
            <a:r>
              <a:rPr lang="en-US" sz="1500" b="1" dirty="0">
                <a:solidFill>
                  <a:srgbClr val="374151"/>
                </a:solidFill>
                <a:latin typeface="Calibri"/>
              </a:rPr>
              <a:t>Draft available in Overleaf — ready to share during the presentation.</a:t>
            </a:r>
          </a:p>
        </p:txBody>
      </p:sp>
      <p:sp>
        <p:nvSpPr>
          <p:cNvPr id="105" name="Footer"/>
          <p:cNvSpPr/>
          <p:nvPr/>
        </p:nvSpPr>
        <p:spPr>
          <a:xfrm>
            <a:off x="254000" y="6477000"/>
            <a:ext cx="7620000" cy="3175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>
              <a:buNone/>
            </a:pPr>
            <a:r>
              <a:rPr lang="en-US" sz="1000" dirty="0">
                <a:solidFill>
                  <a:srgbClr val="9CA3AF"/>
                </a:solidFill>
                <a:latin typeface="Calibri"/>
              </a:rPr>
              <a:t>SemOrder | CS 59200 - Data Management for AI | Purdue University</a:t>
            </a:r>
          </a:p>
        </p:txBody>
      </p:sp>
      <p:sp>
        <p:nvSpPr>
          <p:cNvPr id="106" name="SlideNum"/>
          <p:cNvSpPr/>
          <p:nvPr/>
        </p:nvSpPr>
        <p:spPr>
          <a:xfrm>
            <a:off x="11430000" y="6477000"/>
            <a:ext cx="635000" cy="3175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r">
              <a:buNone/>
            </a:pPr>
            <a:r>
              <a:rPr lang="en-US" sz="1000" dirty="0">
                <a:solidFill>
                  <a:srgbClr val="9CA3AF"/>
                </a:solidFill>
                <a:latin typeface="Calibri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32678975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SemOrder">
      <a:dk1>
        <a:srgbClr val="374151"/>
      </a:dk1>
      <a:lt1>
        <a:srgbClr val="FFFFFF"/>
      </a:lt1>
      <a:dk2>
        <a:srgbClr val="1F2937"/>
      </a:dk2>
      <a:lt2>
        <a:srgbClr val="F3F4F6"/>
      </a:lt2>
      <a:accent1>
        <a:srgbClr val="2563EB"/>
      </a:accent1>
      <a:accent2>
        <a:srgbClr val="3B82F6"/>
      </a:accent2>
      <a:accent3>
        <a:srgbClr val="1D4ED8"/>
      </a:accent3>
      <a:accent4>
        <a:srgbClr val="60A5FA"/>
      </a:accent4>
      <a:accent5>
        <a:srgbClr val="93C5FD"/>
      </a:accent5>
      <a:accent6>
        <a:srgbClr val="1E40AF"/>
      </a:accent6>
      <a:hlink>
        <a:srgbClr val="467886"/>
      </a:hlink>
      <a:folHlink>
        <a:srgbClr val="96607D"/>
      </a:folHlink>
    </a:clrScheme>
    <a:fontScheme name="SemOrder Fonts">
      <a:majorFont>
        <a:latin typeface="Calibri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BCDF09F3-17F2-DF41-8A32-9C1200FDE8AC}">
  <we:reference id="WA200010001" version="1.0.0.0" store="Omex" storeType="OMEX"/>
  <we:alternateReferences>
    <we:reference id="WA200010001" version="1.0.0.0" store="WA200010001" storeType="OMEX"/>
  </we:alternateReferences>
  <we:properties>
    <we:property name="Office.AutoShowTaskpaneWithDocument" value="true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886</Words>
  <Application>Microsoft Macintosh PowerPoint</Application>
  <PresentationFormat>Widescreen</PresentationFormat>
  <Paragraphs>130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Amit Manchella</dc:creator>
  <cp:lastModifiedBy>Amit Manchella</cp:lastModifiedBy>
  <cp:revision>2</cp:revision>
  <dcterms:created xsi:type="dcterms:W3CDTF">2026-03-07T20:10:49Z</dcterms:created>
  <dcterms:modified xsi:type="dcterms:W3CDTF">2026-03-07T20:25:16Z</dcterms:modified>
</cp:coreProperties>
</file>