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9" r:id="rId3"/>
    <p:sldId id="261" r:id="rId4"/>
    <p:sldId id="263" r:id="rId5"/>
    <p:sldId id="286" r:id="rId6"/>
    <p:sldId id="267" r:id="rId7"/>
    <p:sldId id="269" r:id="rId8"/>
    <p:sldId id="271" r:id="rId9"/>
    <p:sldId id="273" r:id="rId10"/>
    <p:sldId id="275" r:id="rId11"/>
    <p:sldId id="277" r:id="rId12"/>
    <p:sldId id="279" r:id="rId13"/>
    <p:sldId id="281" r:id="rId14"/>
    <p:sldId id="283" r:id="rId15"/>
    <p:sldId id="28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52"/>
    <p:restoredTop sz="94691"/>
  </p:normalViewPr>
  <p:slideViewPr>
    <p:cSldViewPr snapToGrid="0">
      <p:cViewPr varScale="1">
        <p:scale>
          <a:sx n="85" d="100"/>
          <a:sy n="85" d="100"/>
        </p:scale>
        <p:origin x="208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4/26/26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1CD5D-04A4-4863-D986-D8D6F5F409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4000" b="1" dirty="0"/>
              <a:t>Adaptive Query Processing for LLM-backed Semantic Operators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3A8AB1-2B66-33B6-D374-A30832AB96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000" dirty="0"/>
              <a:t>An Eddies-Style Router for Dynamic Plan Selection</a:t>
            </a:r>
          </a:p>
          <a:p>
            <a:pPr algn="ctr">
              <a:buNone/>
            </a:pPr>
            <a:r>
              <a:rPr lang="en-US" sz="1600" i="1" dirty="0">
                <a:solidFill>
                  <a:schemeClr val="dk2"/>
                </a:solidFill>
              </a:rPr>
              <a:t>Graduate Research Project • 2026</a:t>
            </a:r>
          </a:p>
        </p:txBody>
      </p:sp>
    </p:spTree>
    <p:extLst>
      <p:ext uri="{BB962C8B-B14F-4D97-AF65-F5344CB8AC3E}">
        <p14:creationId xmlns:p14="http://schemas.microsoft.com/office/powerpoint/2010/main" val="163197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4296A-58A9-63C1-43FA-58C758E5A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/>
              <a:t>Introduction: The Planning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A485C-2983-141E-723A-E51E035D4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ts val="2400"/>
              </a:lnSpc>
              <a:spcAft>
                <a:spcPts val="600"/>
              </a:spcAft>
              <a:buFont typeface="Arial"/>
              <a:buChar char="•"/>
            </a:pPr>
            <a:r>
              <a:rPr lang="en-US" sz="1800" b="1" dirty="0"/>
              <a:t>LLMs are now first-class operators</a:t>
            </a:r>
            <a:r>
              <a:rPr lang="en-US" sz="1800" dirty="0"/>
              <a:t> in modern data systems (semantic filter, join, extract).</a:t>
            </a:r>
          </a:p>
          <a:p>
            <a:pPr marL="342900" indent="-342900">
              <a:lnSpc>
                <a:spcPts val="2400"/>
              </a:lnSpc>
              <a:spcAft>
                <a:spcPts val="600"/>
              </a:spcAft>
              <a:buFont typeface="Arial"/>
              <a:buChar char="•"/>
            </a:pPr>
            <a:r>
              <a:rPr lang="en-US" sz="1800" dirty="0"/>
              <a:t>Each call is </a:t>
            </a:r>
            <a:r>
              <a:rPr lang="en-US" sz="1800" b="1" dirty="0"/>
              <a:t>expensive and opaque</a:t>
            </a:r>
            <a:r>
              <a:rPr lang="en-US" sz="1800" dirty="0"/>
              <a:t> — selectivity is unknown until execution.</a:t>
            </a:r>
          </a:p>
          <a:p>
            <a:pPr marL="342900" indent="-342900">
              <a:lnSpc>
                <a:spcPts val="2400"/>
              </a:lnSpc>
              <a:spcAft>
                <a:spcPts val="600"/>
              </a:spcAft>
              <a:buFont typeface="Arial"/>
              <a:buChar char="•"/>
            </a:pPr>
            <a:r>
              <a:rPr lang="en-US" sz="1800" dirty="0"/>
              <a:t>Traditional cost-based optimizers degrade to guessing.</a:t>
            </a:r>
          </a:p>
          <a:p>
            <a:pPr marL="342900" indent="-342900">
              <a:lnSpc>
                <a:spcPts val="2400"/>
              </a:lnSpc>
              <a:spcAft>
                <a:spcPts val="600"/>
              </a:spcAft>
              <a:buFont typeface="Arial"/>
              <a:buChar char="•"/>
            </a:pPr>
            <a:r>
              <a:rPr lang="en-US" sz="1800" b="1" dirty="0">
                <a:solidFill>
                  <a:schemeClr val="accent1"/>
                </a:solidFill>
              </a:rPr>
              <a:t>Key question: </a:t>
            </a:r>
            <a:r>
              <a:rPr lang="en-US" sz="1800" dirty="0"/>
              <a:t>can we eliminate planning overhead while maintaining (or improving) accuracy?</a:t>
            </a:r>
          </a:p>
        </p:txBody>
      </p:sp>
    </p:spTree>
    <p:extLst>
      <p:ext uri="{BB962C8B-B14F-4D97-AF65-F5344CB8AC3E}">
        <p14:creationId xmlns:p14="http://schemas.microsoft.com/office/powerpoint/2010/main" val="3869279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843C2-0F29-BE27-4A85-4AFB080B3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/>
              <a:t>Why It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B82AD-2455-E52D-B3A9-7DC62DD6C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ts val="2400"/>
              </a:lnSpc>
              <a:spcAft>
                <a:spcPts val="600"/>
              </a:spcAft>
              <a:buFont typeface="Arial"/>
              <a:buChar char="•"/>
            </a:pPr>
            <a:r>
              <a:rPr lang="en-US" sz="1800" b="1" dirty="0"/>
              <a:t>Cost dominates correctness</a:t>
            </a:r>
            <a:r>
              <a:rPr lang="en-US" sz="1800" dirty="0"/>
              <a:t> in LLM pipelines — a wrong plan multiplies dollar and latency cost.</a:t>
            </a:r>
          </a:p>
          <a:p>
            <a:pPr marL="342900" indent="-342900">
              <a:lnSpc>
                <a:spcPts val="2400"/>
              </a:lnSpc>
              <a:spcAft>
                <a:spcPts val="600"/>
              </a:spcAft>
              <a:buFont typeface="Arial"/>
              <a:buChar char="•"/>
            </a:pPr>
            <a:r>
              <a:rPr lang="en-US" sz="1800" dirty="0"/>
              <a:t>Sample-based planning </a:t>
            </a:r>
            <a:r>
              <a:rPr lang="en-US" sz="1800" b="1" dirty="0"/>
              <a:t>burns 40 LLM calls upfront</a:t>
            </a:r>
            <a:r>
              <a:rPr lang="en-US" sz="1800" dirty="0"/>
              <a:t> before answering a single user query.</a:t>
            </a:r>
          </a:p>
          <a:p>
            <a:pPr marL="342900" indent="-342900">
              <a:lnSpc>
                <a:spcPts val="2400"/>
              </a:lnSpc>
              <a:spcAft>
                <a:spcPts val="600"/>
              </a:spcAft>
              <a:buFont typeface="Arial"/>
              <a:buChar char="•"/>
            </a:pPr>
            <a:r>
              <a:rPr lang="en-US" sz="1800" dirty="0"/>
              <a:t>Real workloads are </a:t>
            </a:r>
            <a:r>
              <a:rPr lang="en-US" sz="1800" b="1" dirty="0"/>
              <a:t>non-stationary</a:t>
            </a:r>
            <a:r>
              <a:rPr lang="en-US" sz="1800" dirty="0"/>
              <a:t> — selectivities drift mid-query.</a:t>
            </a:r>
          </a:p>
          <a:p>
            <a:pPr marL="342900" indent="-342900">
              <a:lnSpc>
                <a:spcPts val="2400"/>
              </a:lnSpc>
              <a:spcAft>
                <a:spcPts val="600"/>
              </a:spcAft>
              <a:buFont typeface="Arial"/>
              <a:buChar char="•"/>
            </a:pPr>
            <a:r>
              <a:rPr lang="en-US" sz="1800" dirty="0"/>
              <a:t>An adaptive router can </a:t>
            </a:r>
            <a:r>
              <a:rPr lang="en-US" sz="1800" b="1" dirty="0">
                <a:solidFill>
                  <a:schemeClr val="accent1"/>
                </a:solidFill>
              </a:rPr>
              <a:t>execute and learn simultaneously</a:t>
            </a:r>
            <a:r>
              <a:rPr 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6439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76DEE-5D6D-7484-573B-94462D9C1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/>
              <a:t>Background: Traditional Query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1FB65-81BF-016A-E2D2-8D07A705A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2400"/>
              </a:lnSpc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Cost-based optimizers (System R lineage)</a:t>
            </a:r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Font typeface="Arial"/>
              <a:buChar char="•"/>
            </a:pPr>
            <a:r>
              <a:rPr lang="en-US" sz="1800" dirty="0"/>
              <a:t>Estimate selectivities from histograms / statistics, then enumerate plans.</a:t>
            </a:r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Font typeface="Arial"/>
              <a:buChar char="•"/>
            </a:pPr>
            <a:r>
              <a:rPr lang="en-US" sz="1800" dirty="0"/>
              <a:t>Commit to a fixed plan before execution begins.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Why it breaks for semantic operators</a:t>
            </a:r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Font typeface="Arial"/>
              <a:buChar char="•"/>
            </a:pPr>
            <a:r>
              <a:rPr lang="en-US" sz="1800" dirty="0"/>
              <a:t>True selectivity of </a:t>
            </a:r>
            <a:r>
              <a:rPr lang="en-US" sz="1800" i="1" dirty="0"/>
              <a:t>filter(genre = "thriller")</a:t>
            </a:r>
            <a:r>
              <a:rPr lang="en-US" sz="1800" dirty="0"/>
              <a:t> only knowable by running the LLM.</a:t>
            </a:r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Font typeface="Arial"/>
              <a:buChar char="•"/>
            </a:pPr>
            <a:r>
              <a:rPr lang="en-US" sz="1800" dirty="0"/>
              <a:t>Token-counting heuristics achieve only </a:t>
            </a:r>
            <a:r>
              <a:rPr lang="en-US" sz="1800" b="1" dirty="0"/>
              <a:t>56% accuracy</a:t>
            </a:r>
            <a:r>
              <a:rPr lang="en-US" sz="1800" dirty="0"/>
              <a:t> in our evaluation.</a:t>
            </a:r>
          </a:p>
        </p:txBody>
      </p:sp>
    </p:spTree>
    <p:extLst>
      <p:ext uri="{BB962C8B-B14F-4D97-AF65-F5344CB8AC3E}">
        <p14:creationId xmlns:p14="http://schemas.microsoft.com/office/powerpoint/2010/main" val="3287315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7EEF9-1FBB-52F4-71E9-0DA71B8B7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/>
              <a:t>Background: Eddies Architecture</a:t>
            </a:r>
          </a:p>
        </p:txBody>
      </p:sp>
      <p:sp>
        <p:nvSpPr>
          <p:cNvPr id="101" name="dg101"/>
          <p:cNvSpPr/>
          <p:nvPr/>
        </p:nvSpPr>
        <p:spPr>
          <a:xfrm>
            <a:off x="889000" y="3556000"/>
            <a:ext cx="1397000" cy="762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Input Tuples</a:t>
            </a:r>
          </a:p>
        </p:txBody>
      </p:sp>
      <p:sp>
        <p:nvSpPr>
          <p:cNvPr id="102" name="dg102"/>
          <p:cNvSpPr/>
          <p:nvPr/>
        </p:nvSpPr>
        <p:spPr>
          <a:xfrm>
            <a:off x="4572000" y="3048000"/>
            <a:ext cx="2540000" cy="1778000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Eddy Router</a:t>
            </a:r>
          </a:p>
        </p:txBody>
      </p:sp>
      <p:sp>
        <p:nvSpPr>
          <p:cNvPr id="103" name="dg103"/>
          <p:cNvSpPr/>
          <p:nvPr/>
        </p:nvSpPr>
        <p:spPr>
          <a:xfrm>
            <a:off x="8382000" y="2540000"/>
            <a:ext cx="2794000" cy="889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Op A: Language Filter</a:t>
            </a:r>
          </a:p>
        </p:txBody>
      </p:sp>
      <p:sp>
        <p:nvSpPr>
          <p:cNvPr id="104" name="dg104"/>
          <p:cNvSpPr/>
          <p:nvPr/>
        </p:nvSpPr>
        <p:spPr>
          <a:xfrm>
            <a:off x="8382000" y="4572000"/>
            <a:ext cx="2794000" cy="889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Op B: Genre Filter</a:t>
            </a:r>
          </a:p>
        </p:txBody>
      </p:sp>
      <p:sp>
        <p:nvSpPr>
          <p:cNvPr id="105" name="dg105"/>
          <p:cNvSpPr/>
          <p:nvPr/>
        </p:nvSpPr>
        <p:spPr>
          <a:xfrm>
            <a:off x="8382000" y="5842000"/>
            <a:ext cx="2794000" cy="571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Result Tuples</a:t>
            </a:r>
          </a:p>
        </p:txBody>
      </p:sp>
      <p:sp>
        <p:nvSpPr>
          <p:cNvPr id="106" name="ar106"/>
          <p:cNvSpPr/>
          <p:nvPr/>
        </p:nvSpPr>
        <p:spPr>
          <a:xfrm>
            <a:off x="2349500" y="3746500"/>
            <a:ext cx="2095500" cy="355600"/>
          </a:xfrm>
          <a:prstGeom prst="rightArrow">
            <a:avLst/>
          </a:prstGeom>
          <a:solidFill>
            <a:schemeClr val="dk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ar107"/>
          <p:cNvSpPr/>
          <p:nvPr/>
        </p:nvSpPr>
        <p:spPr>
          <a:xfrm>
            <a:off x="7175500" y="2921000"/>
            <a:ext cx="1143000" cy="279400"/>
          </a:xfrm>
          <a:prstGeom prst="rightArrow">
            <a:avLst/>
          </a:prstGeom>
          <a:solidFill>
            <a:schemeClr val="dk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ar108"/>
          <p:cNvSpPr/>
          <p:nvPr/>
        </p:nvSpPr>
        <p:spPr>
          <a:xfrm>
            <a:off x="7175500" y="4889500"/>
            <a:ext cx="1143000" cy="279400"/>
          </a:xfrm>
          <a:prstGeom prst="rightArrow">
            <a:avLst/>
          </a:prstGeom>
          <a:solidFill>
            <a:schemeClr val="dk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9" name="ar109"/>
          <p:cNvSpPr/>
          <p:nvPr/>
        </p:nvSpPr>
        <p:spPr>
          <a:xfrm>
            <a:off x="7175500" y="3429000"/>
            <a:ext cx="1143000" cy="228600"/>
          </a:xfrm>
          <a:prstGeom prst="leftArrow">
            <a:avLst/>
          </a:prstGeom>
          <a:solidFill>
            <a:schemeClr val="dk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ar110"/>
          <p:cNvSpPr/>
          <p:nvPr/>
        </p:nvSpPr>
        <p:spPr>
          <a:xfrm>
            <a:off x="7175500" y="5397500"/>
            <a:ext cx="1143000" cy="228600"/>
          </a:xfrm>
          <a:prstGeom prst="leftArrow">
            <a:avLst/>
          </a:prstGeom>
          <a:solidFill>
            <a:schemeClr val="dk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cap"/>
          <p:cNvSpPr txBox="1"/>
          <p:nvPr/>
        </p:nvSpPr>
        <p:spPr>
          <a:xfrm>
            <a:off x="889000" y="2032000"/>
            <a:ext cx="10414000" cy="50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buNone/>
            </a:pPr>
            <a:r>
              <a:rPr lang="en-US" sz="1500" i="1" dirty="0">
                <a:solidFill>
                  <a:schemeClr val="dk2"/>
                </a:solidFill>
              </a:rPr>
              <a:t>The router decides per tuple which operator to apply next, learning from observed selectivities.</a:t>
            </a:r>
          </a:p>
        </p:txBody>
      </p:sp>
      <p:sp>
        <p:nvSpPr>
          <p:cNvPr id="120" name="ar120"/>
          <p:cNvSpPr/>
          <p:nvPr/>
        </p:nvSpPr>
        <p:spPr>
          <a:xfrm>
            <a:off x="9588500" y="5486400"/>
            <a:ext cx="381000" cy="355600"/>
          </a:xfrm>
          <a:prstGeom prst="downArrow">
            <a:avLst/>
          </a:prstGeom>
          <a:solidFill>
            <a:schemeClr val="dk2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2310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4F83E-3C1F-E08C-4087-FE4FC79F7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/>
              <a:t>Methodology: System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B1EEB-AFEB-4C8A-A044-8062F42D1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2400"/>
              </a:lnSpc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Two-operator pipeline</a:t>
            </a:r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Font typeface="Arial"/>
              <a:buChar char="•"/>
            </a:pPr>
            <a:r>
              <a:rPr lang="en-US" sz="1800" b="1" dirty="0"/>
              <a:t>Op A — Language Filter:</a:t>
            </a:r>
            <a:r>
              <a:rPr lang="en-US" sz="1800" dirty="0"/>
              <a:t> keep tuples whose review is in English.</a:t>
            </a:r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Font typeface="Arial"/>
              <a:buChar char="•"/>
            </a:pPr>
            <a:r>
              <a:rPr lang="en-US" sz="1800" b="1" dirty="0"/>
              <a:t>Op B — Genre Filter:</a:t>
            </a:r>
            <a:r>
              <a:rPr lang="en-US" sz="1800" dirty="0"/>
              <a:t> keep tuples whose movie matches the target genre.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Either order is correct — only cost differs</a:t>
            </a:r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Font typeface="Arial"/>
              <a:buChar char="•"/>
            </a:pPr>
            <a:r>
              <a:rPr lang="en-US" sz="1800" dirty="0"/>
              <a:t>Run the cheaper / more selective filter first to minimize total LLM calls.</a:t>
            </a:r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Font typeface="Arial"/>
              <a:buChar char="•"/>
            </a:pPr>
            <a:r>
              <a:rPr lang="en-US" sz="1800" dirty="0"/>
              <a:t>The Eddy decides this </a:t>
            </a:r>
            <a:r>
              <a:rPr lang="en-US" sz="1800" b="1" dirty="0"/>
              <a:t>per tuple</a:t>
            </a:r>
            <a:r>
              <a:rPr lang="en-US" sz="1800" dirty="0"/>
              <a:t>, online.</a:t>
            </a:r>
          </a:p>
        </p:txBody>
      </p:sp>
    </p:spTree>
    <p:extLst>
      <p:ext uri="{BB962C8B-B14F-4D97-AF65-F5344CB8AC3E}">
        <p14:creationId xmlns:p14="http://schemas.microsoft.com/office/powerpoint/2010/main" val="1073144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5C626-DD06-D1FB-A742-0749037BF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/>
              <a:t>Methodology: Routing Policies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B01F8-E9E5-4194-D2BD-9BED3B12C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2200"/>
              </a:lnSpc>
              <a:spcAft>
                <a:spcPts val="200"/>
              </a:spcAft>
              <a:buNone/>
            </a:pPr>
            <a:r>
              <a:rPr lang="en-US" sz="1700" i="1" dirty="0">
                <a:solidFill>
                  <a:schemeClr val="dk2"/>
                </a:solidFill>
              </a:rPr>
              <a:t>Each policy frames operator choice as a multi-armed bandit problem — balancing exploration (try the unknown) and exploitation (use what works).</a:t>
            </a:r>
          </a:p>
          <a:p>
            <a:pPr marL="342900" indent="-342900">
              <a:lnSpc>
                <a:spcPts val="2200"/>
              </a:lnSpc>
              <a:spcAft>
                <a:spcPts val="300"/>
              </a:spcAft>
              <a:buFont typeface="Arial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Thompson Sampling </a:t>
            </a:r>
            <a:r>
              <a:rPr lang="en-US" sz="1700" dirty="0"/>
              <a:t>— sample from posterior over each operator’s reward; principled Bayesian exploration.</a:t>
            </a:r>
          </a:p>
          <a:p>
            <a:pPr marL="342900" indent="-342900">
              <a:lnSpc>
                <a:spcPts val="2200"/>
              </a:lnSpc>
              <a:spcAft>
                <a:spcPts val="300"/>
              </a:spcAft>
              <a:buFont typeface="Arial"/>
              <a:buChar char="•"/>
            </a:pPr>
            <a:r>
              <a:rPr lang="en-US" sz="1700" b="1" dirty="0">
                <a:solidFill>
                  <a:schemeClr val="accent4"/>
                </a:solidFill>
              </a:rPr>
              <a:t>Lottery </a:t>
            </a:r>
            <a:r>
              <a:rPr lang="en-US" sz="1700" dirty="0"/>
              <a:t>— route proportional to estimated reward (softmax-style).</a:t>
            </a:r>
          </a:p>
          <a:p>
            <a:pPr marL="342900" indent="-342900">
              <a:lnSpc>
                <a:spcPts val="2200"/>
              </a:lnSpc>
              <a:spcAft>
                <a:spcPts val="300"/>
              </a:spcAft>
              <a:buFont typeface="Arial"/>
              <a:buChar char="•"/>
            </a:pPr>
            <a:r>
              <a:rPr lang="en-US" sz="1700" b="1" dirty="0">
                <a:solidFill>
                  <a:schemeClr val="accent5"/>
                </a:solidFill>
              </a:rPr>
              <a:t>UCB </a:t>
            </a:r>
            <a:r>
              <a:rPr lang="en-US" sz="1700" dirty="0"/>
              <a:t>— pick the operator with the highest upper-confidence-bound reward estimate.</a:t>
            </a:r>
          </a:p>
          <a:p>
            <a:pPr marL="342900" indent="-342900">
              <a:lnSpc>
                <a:spcPts val="2200"/>
              </a:lnSpc>
              <a:spcAft>
                <a:spcPts val="300"/>
              </a:spcAft>
              <a:buFont typeface="Arial"/>
              <a:buChar char="•"/>
            </a:pPr>
            <a:r>
              <a:rPr lang="en-US" sz="1700" b="1" dirty="0">
                <a:solidFill>
                  <a:schemeClr val="accent6"/>
                </a:solidFill>
              </a:rPr>
              <a:t>ε-Greedy </a:t>
            </a:r>
            <a:r>
              <a:rPr lang="en-US" sz="1700" dirty="0"/>
              <a:t>— exploit the current best with probability 1−ε, explore otherwise.</a:t>
            </a:r>
          </a:p>
        </p:txBody>
      </p:sp>
    </p:spTree>
    <p:extLst>
      <p:ext uri="{BB962C8B-B14F-4D97-AF65-F5344CB8AC3E}">
        <p14:creationId xmlns:p14="http://schemas.microsoft.com/office/powerpoint/2010/main" val="2171062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FAC6D-49FC-5F7D-3822-4C80F1CFE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/>
              <a:t>Experimental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9778C-2B6F-0B00-1D3C-461E33245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ts val="2400"/>
              </a:lnSpc>
              <a:spcAft>
                <a:spcPts val="500"/>
              </a:spcAft>
              <a:buFont typeface="Arial"/>
              <a:buChar char="•"/>
            </a:pPr>
            <a:r>
              <a:rPr lang="en-US" sz="1800" b="1" dirty="0"/>
              <a:t>Workload:</a:t>
            </a:r>
            <a:r>
              <a:rPr lang="en-US" sz="1800" dirty="0"/>
              <a:t> 25 selectivity configurations × 100 tuples each = </a:t>
            </a:r>
            <a:r>
              <a:rPr lang="en-US" sz="1800" b="1" dirty="0"/>
              <a:t>2,500 query points</a:t>
            </a:r>
            <a:r>
              <a:rPr lang="en-US" sz="1800" dirty="0"/>
              <a:t>.</a:t>
            </a:r>
          </a:p>
          <a:p>
            <a:pPr marL="342900" indent="-342900">
              <a:lnSpc>
                <a:spcPts val="2400"/>
              </a:lnSpc>
              <a:spcAft>
                <a:spcPts val="500"/>
              </a:spcAft>
              <a:buFont typeface="Arial"/>
              <a:buChar char="•"/>
            </a:pPr>
            <a:r>
              <a:rPr lang="en-US" sz="1800" b="1" dirty="0"/>
              <a:t>Baselines:</a:t>
            </a:r>
            <a:r>
              <a:rPr lang="en-US" sz="1800" dirty="0"/>
              <a:t> Local cost model, Sample-based planner (40-call sample), Oracle (knows true selectivities).</a:t>
            </a:r>
          </a:p>
          <a:p>
            <a:pPr marL="342900" indent="-342900">
              <a:lnSpc>
                <a:spcPts val="2400"/>
              </a:lnSpc>
              <a:spcAft>
                <a:spcPts val="500"/>
              </a:spcAft>
              <a:buFont typeface="Arial"/>
              <a:buChar char="•"/>
            </a:pPr>
            <a:r>
              <a:rPr lang="en-US" sz="1800" b="1" dirty="0"/>
              <a:t>Metric:</a:t>
            </a:r>
            <a:r>
              <a:rPr lang="en-US" sz="1800" dirty="0"/>
              <a:t> fraction of configurations where method picks the cheaper operator order.</a:t>
            </a:r>
          </a:p>
          <a:p>
            <a:pPr marL="342900" indent="-342900">
              <a:lnSpc>
                <a:spcPts val="2400"/>
              </a:lnSpc>
              <a:spcAft>
                <a:spcPts val="500"/>
              </a:spcAft>
              <a:buFont typeface="Arial"/>
              <a:buChar char="•"/>
            </a:pPr>
            <a:r>
              <a:rPr lang="en-US" sz="1800" b="1" dirty="0"/>
              <a:t>Extensions:</a:t>
            </a:r>
            <a:r>
              <a:rPr lang="en-US" sz="1800" dirty="0"/>
              <a:t> non-stationary trace + sample-size ablation (n = 5, 10, 20).</a:t>
            </a:r>
          </a:p>
        </p:txBody>
      </p:sp>
    </p:spTree>
    <p:extLst>
      <p:ext uri="{BB962C8B-B14F-4D97-AF65-F5344CB8AC3E}">
        <p14:creationId xmlns:p14="http://schemas.microsoft.com/office/powerpoint/2010/main" val="766307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CD8CF-5C9A-7AE8-41FD-8F50D8ED7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/>
              <a:t>Results: Eddy vs Baselines</a:t>
            </a:r>
          </a:p>
        </p:txBody>
      </p:sp>
      <p:sp>
        <p:nvSpPr>
          <p:cNvPr id="101" name="bullets"/>
          <p:cNvSpPr txBox="1"/>
          <p:nvPr/>
        </p:nvSpPr>
        <p:spPr>
          <a:xfrm>
            <a:off x="635000" y="2159000"/>
            <a:ext cx="5334000" cy="4191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Accuracy across 25 configurations</a:t>
            </a:r>
          </a:p>
          <a:p>
            <a:pPr marL="285750" indent="-285750">
              <a:lnSpc>
                <a:spcPts val="2200"/>
              </a:lnSpc>
              <a:spcAft>
                <a:spcPts val="300"/>
              </a:spcAft>
              <a:buFont typeface="Arial"/>
              <a:buChar char="•"/>
            </a:pPr>
            <a:r>
              <a:rPr lang="en-US" sz="1600" dirty="0"/>
              <a:t>Local cost model: </a:t>
            </a:r>
            <a:r>
              <a:rPr lang="en-US" sz="1600" b="1" dirty="0"/>
              <a:t>56%</a:t>
            </a:r>
          </a:p>
          <a:p>
            <a:pPr marL="285750" indent="-285750">
              <a:lnSpc>
                <a:spcPts val="2200"/>
              </a:lnSpc>
              <a:spcAft>
                <a:spcPts val="300"/>
              </a:spcAft>
              <a:buFont typeface="Arial"/>
              <a:buChar char="•"/>
            </a:pPr>
            <a:r>
              <a:rPr lang="en-US" sz="1600" dirty="0"/>
              <a:t>Oracle (true selectivities): </a:t>
            </a:r>
            <a:r>
              <a:rPr lang="en-US" sz="1600" b="1" dirty="0"/>
              <a:t>76%</a:t>
            </a:r>
          </a:p>
          <a:p>
            <a:pPr marL="285750" indent="-285750">
              <a:lnSpc>
                <a:spcPts val="2200"/>
              </a:lnSpc>
              <a:spcAft>
                <a:spcPts val="300"/>
              </a:spcAft>
              <a:buFont typeface="Arial"/>
              <a:buChar char="•"/>
            </a:pPr>
            <a:r>
              <a:rPr lang="en-US" sz="1600" dirty="0"/>
              <a:t>Sample-based (40 calls): </a:t>
            </a:r>
            <a:r>
              <a:rPr lang="en-US" sz="1600" b="1" dirty="0"/>
              <a:t>88%</a:t>
            </a:r>
          </a:p>
          <a:p>
            <a:pPr marL="285750" indent="-285750">
              <a:lnSpc>
                <a:spcPts val="2200"/>
              </a:lnSpc>
              <a:spcAft>
                <a:spcPts val="300"/>
              </a:spcAft>
              <a:buFont typeface="Arial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Eddy (this work): 92%</a:t>
            </a:r>
          </a:p>
          <a:p>
            <a:pPr>
              <a:lnSpc>
                <a:spcPts val="2000"/>
              </a:lnSpc>
              <a:spcBef>
                <a:spcPts val="400"/>
              </a:spcBef>
              <a:buNone/>
            </a:pPr>
            <a:r>
              <a:rPr lang="en-US" sz="1500" i="1" dirty="0">
                <a:solidFill>
                  <a:schemeClr val="dk2"/>
                </a:solidFill>
              </a:rPr>
              <a:t>Eddy beats sample-based with zero planning overhead.</a:t>
            </a:r>
          </a:p>
        </p:txBody>
      </p:sp>
      <p:sp>
        <p:nvSpPr>
          <p:cNvPr id="102" name="placeholder"/>
          <p:cNvSpPr/>
          <p:nvPr/>
        </p:nvSpPr>
        <p:spPr>
          <a:xfrm>
            <a:off x="6223000" y="2159000"/>
            <a:ext cx="5334000" cy="4064000"/>
          </a:xfrm>
          <a:prstGeom prst="rect">
            <a:avLst/>
          </a:prstGeom>
          <a:solidFill>
            <a:schemeClr val="lt2"/>
          </a:solidFill>
          <a:ln w="19050">
            <a:solidFill>
              <a:schemeClr val="dk2"/>
            </a:solidFill>
            <a:prstDash val="dash"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800" b="1" dirty="0">
                <a:solidFill>
                  <a:schemeClr val="dk1"/>
                </a:solidFill>
              </a:rPr>
              <a:t>[ INSERT FIGURE ]</a:t>
            </a:r>
          </a:p>
          <a:p>
            <a:pPr algn="ctr">
              <a:buNone/>
            </a:pPr>
            <a:r>
              <a:rPr lang="en-US" sz="1500" dirty="0">
                <a:solidFill>
                  <a:schemeClr val="dk2"/>
                </a:solidFill>
              </a:rPr>
              <a:t>fig6_eddy_accuracy.png</a:t>
            </a:r>
          </a:p>
          <a:p>
            <a:pPr algn="ctr">
              <a:buNone/>
            </a:pPr>
            <a:r>
              <a:rPr lang="en-US" sz="1400" i="1" dirty="0">
                <a:solidFill>
                  <a:schemeClr val="dk2"/>
                </a:solidFill>
              </a:rPr>
              <a:t>Bar chart: Local / Oracle / Sample / Eddy</a:t>
            </a:r>
          </a:p>
        </p:txBody>
      </p:sp>
    </p:spTree>
    <p:extLst>
      <p:ext uri="{BB962C8B-B14F-4D97-AF65-F5344CB8AC3E}">
        <p14:creationId xmlns:p14="http://schemas.microsoft.com/office/powerpoint/2010/main" val="1671483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06839-BC93-9B0C-7A07-1A2A14229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/>
              <a:t>Results: Routing Policy Comparison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D5EDFF-424A-C94C-BAB9-10D2DA2C99D5}"/>
              </a:ext>
            </a:extLst>
          </p:cNvPr>
          <p:cNvGraphicFramePr>
            <a:graphicFrameLocks noGrp="1"/>
          </p:cNvGraphicFramePr>
          <p:nvPr/>
        </p:nvGraphicFramePr>
        <p:xfrm>
          <a:off x="508000" y="2095500"/>
          <a:ext cx="5841999" cy="35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7333">
                  <a:extLst>
                    <a:ext uri="{9D8B030D-6E8A-4147-A177-3AD203B41FA5}">
                      <a16:colId xmlns:a16="http://schemas.microsoft.com/office/drawing/2014/main" val="1469457889"/>
                    </a:ext>
                  </a:extLst>
                </a:gridCol>
                <a:gridCol w="1947333">
                  <a:extLst>
                    <a:ext uri="{9D8B030D-6E8A-4147-A177-3AD203B41FA5}">
                      <a16:colId xmlns:a16="http://schemas.microsoft.com/office/drawing/2014/main" val="2058639296"/>
                    </a:ext>
                  </a:extLst>
                </a:gridCol>
                <a:gridCol w="1947333">
                  <a:extLst>
                    <a:ext uri="{9D8B030D-6E8A-4147-A177-3AD203B41FA5}">
                      <a16:colId xmlns:a16="http://schemas.microsoft.com/office/drawing/2014/main" val="2114274688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Policy</a:t>
                      </a:r>
                    </a:p>
                  </a:txBody>
                  <a:tcPr anchor="ctr">
                    <a:solidFill>
                      <a:srgbClr val="B71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 anchor="ctr">
                    <a:solidFill>
                      <a:srgbClr val="B71E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 anchor="ctr">
                    <a:solidFill>
                      <a:srgbClr val="B71E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04931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Thompson Sampling</a:t>
                      </a:r>
                    </a:p>
                  </a:txBody>
                  <a:tcPr anchor="ctr">
                    <a:solidFill>
                      <a:srgbClr val="FCE9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96%</a:t>
                      </a:r>
                    </a:p>
                  </a:txBody>
                  <a:tcPr anchor="ctr">
                    <a:solidFill>
                      <a:srgbClr val="FCE9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Best — Bayesian posterior</a:t>
                      </a:r>
                    </a:p>
                  </a:txBody>
                  <a:tcPr anchor="ctr">
                    <a:solidFill>
                      <a:srgbClr val="FCE9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598777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Lottery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/>
                        <a:t>92%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Proportional softmax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61106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UCB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/>
                        <a:t>88%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Optimism under uncertainty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1687668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Epsilon-Greedy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/>
                        <a:t>88%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Simple exploration baseline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5537522"/>
                  </a:ext>
                </a:extLst>
              </a:tr>
            </a:tbl>
          </a:graphicData>
        </a:graphic>
      </p:graphicFrame>
      <p:sp>
        <p:nvSpPr>
          <p:cNvPr id="201" name="placeholder"/>
          <p:cNvSpPr/>
          <p:nvPr/>
        </p:nvSpPr>
        <p:spPr>
          <a:xfrm>
            <a:off x="6604000" y="2095500"/>
            <a:ext cx="5080000" cy="3556000"/>
          </a:xfrm>
          <a:prstGeom prst="rect">
            <a:avLst/>
          </a:prstGeom>
          <a:solidFill>
            <a:schemeClr val="lt2"/>
          </a:solidFill>
          <a:ln w="19050">
            <a:solidFill>
              <a:schemeClr val="dk2"/>
            </a:solidFill>
            <a:prstDash val="dash"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800" b="1" dirty="0">
                <a:solidFill>
                  <a:schemeClr val="dk1"/>
                </a:solidFill>
              </a:rPr>
              <a:t>[ INSERT FIGURE ]</a:t>
            </a:r>
          </a:p>
          <a:p>
            <a:pPr algn="ctr">
              <a:buNone/>
            </a:pPr>
            <a:r>
              <a:rPr lang="en-US" sz="1500" dirty="0">
                <a:solidFill>
                  <a:schemeClr val="dk2"/>
                </a:solidFill>
              </a:rPr>
              <a:t>fig8_policy_comparison.png</a:t>
            </a:r>
          </a:p>
          <a:p>
            <a:pPr algn="ctr">
              <a:buNone/>
            </a:pPr>
            <a:r>
              <a:rPr lang="en-US" sz="1400" i="1" dirty="0">
                <a:solidFill>
                  <a:schemeClr val="dk2"/>
                </a:solidFill>
              </a:rPr>
              <a:t>Per-policy accuracy across 25 configs</a:t>
            </a:r>
          </a:p>
        </p:txBody>
      </p:sp>
      <p:sp>
        <p:nvSpPr>
          <p:cNvPr id="202" name="cap"/>
          <p:cNvSpPr txBox="1"/>
          <p:nvPr/>
        </p:nvSpPr>
        <p:spPr>
          <a:xfrm>
            <a:off x="508000" y="5842000"/>
            <a:ext cx="11176000" cy="635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buNone/>
            </a:pPr>
            <a:r>
              <a:rPr lang="en-US" sz="1500" i="1" dirty="0">
                <a:solidFill>
                  <a:schemeClr val="dk2"/>
                </a:solidFill>
              </a:rPr>
              <a:t>Thompson Sampling balances exploration and exploitation most effectively, leading the field at 96%.</a:t>
            </a:r>
          </a:p>
        </p:txBody>
      </p:sp>
    </p:spTree>
    <p:extLst>
      <p:ext uri="{BB962C8B-B14F-4D97-AF65-F5344CB8AC3E}">
        <p14:creationId xmlns:p14="http://schemas.microsoft.com/office/powerpoint/2010/main" val="1318301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7B901-1809-38C3-B81D-5F1CA6284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/>
              <a:t>Ablation: Sample Size Impact</a:t>
            </a:r>
          </a:p>
        </p:txBody>
      </p:sp>
      <p:sp>
        <p:nvSpPr>
          <p:cNvPr id="301" name="bullets"/>
          <p:cNvSpPr txBox="1"/>
          <p:nvPr/>
        </p:nvSpPr>
        <p:spPr>
          <a:xfrm>
            <a:off x="635000" y="2159000"/>
            <a:ext cx="5334000" cy="4191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How big a sample does Sample-based need?</a:t>
            </a:r>
          </a:p>
          <a:p>
            <a:pPr marL="285750" indent="-285750">
              <a:lnSpc>
                <a:spcPts val="2200"/>
              </a:lnSpc>
              <a:spcAft>
                <a:spcPts val="400"/>
              </a:spcAft>
              <a:buFont typeface="Arial"/>
              <a:buChar char="•"/>
            </a:pPr>
            <a:r>
              <a:rPr lang="en-US" sz="1700" dirty="0"/>
              <a:t>n = 5 → </a:t>
            </a:r>
            <a:r>
              <a:rPr lang="en-US" sz="1700" b="1" dirty="0"/>
              <a:t>80%</a:t>
            </a:r>
          </a:p>
          <a:p>
            <a:pPr marL="285750" indent="-285750">
              <a:lnSpc>
                <a:spcPts val="2200"/>
              </a:lnSpc>
              <a:spcAft>
                <a:spcPts val="400"/>
              </a:spcAft>
              <a:buFont typeface="Arial"/>
              <a:buChar char="•"/>
            </a:pPr>
            <a:r>
              <a:rPr lang="en-US" sz="1700" dirty="0"/>
              <a:t>n = 10 → </a:t>
            </a:r>
            <a:r>
              <a:rPr lang="en-US" sz="1700" b="1" dirty="0"/>
              <a:t>80%</a:t>
            </a:r>
          </a:p>
          <a:p>
            <a:pPr marL="285750" indent="-285750">
              <a:lnSpc>
                <a:spcPts val="2200"/>
              </a:lnSpc>
              <a:spcAft>
                <a:spcPts val="400"/>
              </a:spcAft>
              <a:buFont typeface="Arial"/>
              <a:buChar char="•"/>
            </a:pPr>
            <a:r>
              <a:rPr lang="en-US" sz="1700" dirty="0"/>
              <a:t>n = 20 → </a:t>
            </a:r>
            <a:r>
              <a:rPr lang="en-US" sz="1700" b="1" dirty="0"/>
              <a:t>88%</a:t>
            </a:r>
          </a:p>
          <a:p>
            <a:pPr>
              <a:lnSpc>
                <a:spcPts val="2000"/>
              </a:lnSpc>
              <a:spcBef>
                <a:spcPts val="500"/>
              </a:spcBef>
              <a:buNone/>
            </a:pPr>
            <a:r>
              <a:rPr lang="en-US" sz="1500" i="1" dirty="0">
                <a:solidFill>
                  <a:schemeClr val="dk2"/>
                </a:solidFill>
              </a:rPr>
              <a:t>Even at n=20, sample-based still trails Eddy — while burning 20 LLM calls before answering.</a:t>
            </a:r>
          </a:p>
        </p:txBody>
      </p:sp>
      <p:sp>
        <p:nvSpPr>
          <p:cNvPr id="302" name="placeholder"/>
          <p:cNvSpPr/>
          <p:nvPr/>
        </p:nvSpPr>
        <p:spPr>
          <a:xfrm>
            <a:off x="6223000" y="2159000"/>
            <a:ext cx="5334000" cy="4064000"/>
          </a:xfrm>
          <a:prstGeom prst="rect">
            <a:avLst/>
          </a:prstGeom>
          <a:solidFill>
            <a:schemeClr val="lt2"/>
          </a:solidFill>
          <a:ln w="19050">
            <a:solidFill>
              <a:schemeClr val="dk2"/>
            </a:solidFill>
            <a:prstDash val="dash"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800" b="1" dirty="0">
                <a:solidFill>
                  <a:schemeClr val="dk1"/>
                </a:solidFill>
              </a:rPr>
              <a:t>[ INSERT FIGURE ]</a:t>
            </a:r>
          </a:p>
          <a:p>
            <a:pPr algn="ctr">
              <a:buNone/>
            </a:pPr>
            <a:r>
              <a:rPr lang="en-US" sz="1500" dirty="0">
                <a:solidFill>
                  <a:schemeClr val="dk2"/>
                </a:solidFill>
              </a:rPr>
              <a:t>fig5_ablation_curve.png</a:t>
            </a:r>
          </a:p>
          <a:p>
            <a:pPr algn="ctr">
              <a:buNone/>
            </a:pPr>
            <a:r>
              <a:rPr lang="en-US" sz="1400" i="1" dirty="0">
                <a:solidFill>
                  <a:schemeClr val="dk2"/>
                </a:solidFill>
              </a:rPr>
              <a:t>Accuracy vs sample size n</a:t>
            </a:r>
          </a:p>
        </p:txBody>
      </p:sp>
    </p:spTree>
    <p:extLst>
      <p:ext uri="{BB962C8B-B14F-4D97-AF65-F5344CB8AC3E}">
        <p14:creationId xmlns:p14="http://schemas.microsoft.com/office/powerpoint/2010/main" val="1146413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669C4-CF5B-168C-63C2-4AB0372D5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/>
              <a:t>Results: Non-Stationary Workloads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A3956-47A3-8D2A-DDA3-2C4FE525A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2400"/>
              </a:lnSpc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Setup</a:t>
            </a:r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Font typeface="Arial"/>
              <a:buChar char="•"/>
            </a:pPr>
            <a:r>
              <a:rPr lang="en-US" sz="1800" dirty="0"/>
              <a:t>Selectivities flip mid-query: a fixed plan picked up-front becomes wrong halfway through.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Finding</a:t>
            </a:r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Font typeface="Arial"/>
              <a:buChar char="•"/>
            </a:pPr>
            <a:r>
              <a:rPr lang="en-US" sz="1800" dirty="0"/>
              <a:t>All four policies converge at similar accuracy — segments are too short for differentiation.</a:t>
            </a:r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Font typeface="Arial"/>
              <a:buChar char="•"/>
            </a:pPr>
            <a:r>
              <a:rPr lang="en-US" sz="1800" dirty="0"/>
              <a:t>Eddy still adapts; sample-based plan stays committed to its initial (now incorrect) decision.</a:t>
            </a:r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Font typeface="Arial"/>
              <a:buChar char="•"/>
            </a:pPr>
            <a:r>
              <a:rPr lang="en-US" sz="1800" b="1" dirty="0"/>
              <a:t>Implication:</a:t>
            </a:r>
            <a:r>
              <a:rPr lang="en-US" sz="1800" dirty="0"/>
              <a:t> larger drift windows are needed to separate the policies; we expect TS to win in real workloads.</a:t>
            </a:r>
          </a:p>
        </p:txBody>
      </p:sp>
    </p:spTree>
    <p:extLst>
      <p:ext uri="{BB962C8B-B14F-4D97-AF65-F5344CB8AC3E}">
        <p14:creationId xmlns:p14="http://schemas.microsoft.com/office/powerpoint/2010/main" val="1697595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DF048-3BF8-3D47-6A34-F2EDDCA52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/>
              <a:t>Contributions &amp; 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53D06-43ED-194C-991B-D9CE05C8F2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Contributions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A42CF4-D752-ECA1-D3A1-5A48A3F49BA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285750" indent="-285750">
              <a:lnSpc>
                <a:spcPts val="2200"/>
              </a:lnSpc>
              <a:spcAft>
                <a:spcPts val="400"/>
              </a:spcAft>
              <a:buFont typeface="Arial"/>
              <a:buChar char="•"/>
            </a:pPr>
            <a:r>
              <a:rPr lang="en-US" sz="1700" dirty="0"/>
              <a:t>Eliminated up-front planning overhead (saves 40 LLM calls).</a:t>
            </a:r>
          </a:p>
          <a:p>
            <a:pPr marL="285750" indent="-285750">
              <a:lnSpc>
                <a:spcPts val="2200"/>
              </a:lnSpc>
              <a:spcAft>
                <a:spcPts val="400"/>
              </a:spcAft>
              <a:buFont typeface="Arial"/>
              <a:buChar char="•"/>
            </a:pPr>
            <a:r>
              <a:rPr lang="en-US" sz="1700" dirty="0"/>
              <a:t>Achieved </a:t>
            </a:r>
            <a:r>
              <a:rPr lang="en-US" sz="1700" b="1" dirty="0"/>
              <a:t>92%</a:t>
            </a:r>
            <a:r>
              <a:rPr lang="en-US" sz="1700" dirty="0"/>
              <a:t> accuracy — better than sample-based at zero cost.</a:t>
            </a:r>
          </a:p>
          <a:p>
            <a:pPr marL="285750" indent="-285750">
              <a:lnSpc>
                <a:spcPts val="2200"/>
              </a:lnSpc>
              <a:spcAft>
                <a:spcPts val="400"/>
              </a:spcAft>
              <a:buFont typeface="Arial"/>
              <a:buChar char="•"/>
            </a:pPr>
            <a:r>
              <a:rPr lang="en-US" sz="1700" dirty="0"/>
              <a:t>Identified </a:t>
            </a:r>
            <a:r>
              <a:rPr lang="en-US" sz="1700" b="1" dirty="0"/>
              <a:t>Thompson Sampling</a:t>
            </a:r>
            <a:r>
              <a:rPr lang="en-US" sz="1700" dirty="0"/>
              <a:t> as the optimal routing policy.</a:t>
            </a:r>
          </a:p>
          <a:p>
            <a:pPr marL="285750" indent="-285750">
              <a:lnSpc>
                <a:spcPts val="2200"/>
              </a:lnSpc>
              <a:spcAft>
                <a:spcPts val="400"/>
              </a:spcAft>
              <a:buFont typeface="Arial"/>
              <a:buChar char="•"/>
            </a:pPr>
            <a:r>
              <a:rPr lang="en-US" sz="1700" dirty="0"/>
              <a:t>Empirical study across 25 selectivity configurations.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7EA224-3B71-1D06-1DC7-9503381D1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>
              <a:buNone/>
            </a:pPr>
            <a:r>
              <a:rPr lang="en-US" sz="2200" b="1" dirty="0">
                <a:solidFill>
                  <a:schemeClr val="accent4"/>
                </a:solidFill>
              </a:rPr>
              <a:t>Limitations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BC173A-9920-C0ED-FF85-4B5FF684B63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7500" lnSpcReduction="20000"/>
          </a:bodyPr>
          <a:lstStyle/>
          <a:p>
            <a:pPr marL="285750" indent="-285750">
              <a:lnSpc>
                <a:spcPts val="2200"/>
              </a:lnSpc>
              <a:spcAft>
                <a:spcPts val="400"/>
              </a:spcAft>
              <a:buFont typeface="Arial"/>
              <a:buChar char="•"/>
            </a:pPr>
            <a:r>
              <a:rPr lang="en-US" sz="1700" dirty="0"/>
              <a:t>Non-stationary experiment did not separate policies (segments too small).</a:t>
            </a:r>
          </a:p>
          <a:p>
            <a:pPr marL="285750" indent="-285750">
              <a:lnSpc>
                <a:spcPts val="2200"/>
              </a:lnSpc>
              <a:spcAft>
                <a:spcPts val="400"/>
              </a:spcAft>
              <a:buFont typeface="Arial"/>
              <a:buChar char="•"/>
            </a:pPr>
            <a:r>
              <a:rPr lang="en-US" sz="1700" dirty="0"/>
              <a:t>Policies require hyperparameter tuning (e.g., ε, prior strength).</a:t>
            </a:r>
          </a:p>
          <a:p>
            <a:pPr marL="285750" indent="-285750">
              <a:lnSpc>
                <a:spcPts val="2200"/>
              </a:lnSpc>
              <a:spcAft>
                <a:spcPts val="400"/>
              </a:spcAft>
              <a:buFont typeface="Arial"/>
              <a:buChar char="•"/>
            </a:pPr>
            <a:r>
              <a:rPr lang="en-US" sz="1700" dirty="0"/>
              <a:t>Two-operator pipeline only — n-operator routing left to future work.</a:t>
            </a:r>
          </a:p>
          <a:p>
            <a:pPr marL="285750" indent="-285750">
              <a:lnSpc>
                <a:spcPts val="2200"/>
              </a:lnSpc>
              <a:spcAft>
                <a:spcPts val="400"/>
              </a:spcAft>
              <a:buFont typeface="Arial"/>
              <a:buChar char="•"/>
            </a:pPr>
            <a:r>
              <a:rPr lang="en-US" sz="1700" dirty="0"/>
              <a:t>Single-LLM evaluation; cross-model generalization untested.</a:t>
            </a:r>
          </a:p>
        </p:txBody>
      </p:sp>
    </p:spTree>
    <p:extLst>
      <p:ext uri="{BB962C8B-B14F-4D97-AF65-F5344CB8AC3E}">
        <p14:creationId xmlns:p14="http://schemas.microsoft.com/office/powerpoint/2010/main" val="1483431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1BC57-E535-E49F-2E0B-E71B01016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/>
              <a:t>Summary &amp; 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1CCB6-4EC3-7DBD-F441-F8BE2F47A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ts val="2400"/>
              </a:lnSpc>
              <a:spcAft>
                <a:spcPts val="500"/>
              </a:spcAft>
              <a:buFont typeface="Arial"/>
              <a:buChar char="•"/>
            </a:pPr>
            <a:r>
              <a:rPr lang="en-US" sz="1800" b="1" dirty="0">
                <a:solidFill>
                  <a:schemeClr val="accent1"/>
                </a:solidFill>
              </a:rPr>
              <a:t>Eddy </a:t>
            </a:r>
            <a:r>
              <a:rPr lang="en-US" sz="1800" dirty="0"/>
              <a:t>achieves </a:t>
            </a:r>
            <a:r>
              <a:rPr lang="en-US" sz="1800" b="1" dirty="0"/>
              <a:t>92% accuracy</a:t>
            </a:r>
            <a:r>
              <a:rPr lang="en-US" sz="1800" dirty="0"/>
              <a:t> with zero planning overhead.</a:t>
            </a:r>
          </a:p>
          <a:p>
            <a:pPr marL="342900" indent="-342900">
              <a:lnSpc>
                <a:spcPts val="2400"/>
              </a:lnSpc>
              <a:spcAft>
                <a:spcPts val="500"/>
              </a:spcAft>
              <a:buFont typeface="Arial"/>
              <a:buChar char="•"/>
            </a:pPr>
            <a:r>
              <a:rPr lang="en-US" sz="1800" b="1" dirty="0"/>
              <a:t>Thompson Sampling</a:t>
            </a:r>
            <a:r>
              <a:rPr lang="en-US" sz="1800" dirty="0"/>
              <a:t> emerges as the optimal policy at </a:t>
            </a:r>
            <a:r>
              <a:rPr lang="en-US" sz="1800" b="1" dirty="0"/>
              <a:t>96% accuracy</a:t>
            </a:r>
            <a:r>
              <a:rPr lang="en-US" sz="1800" dirty="0"/>
              <a:t>.</a:t>
            </a:r>
          </a:p>
          <a:p>
            <a:pPr marL="342900" indent="-342900">
              <a:lnSpc>
                <a:spcPts val="2400"/>
              </a:lnSpc>
              <a:spcAft>
                <a:spcPts val="500"/>
              </a:spcAft>
              <a:buFont typeface="Arial"/>
              <a:buChar char="•"/>
            </a:pPr>
            <a:r>
              <a:rPr lang="en-US" sz="1800" dirty="0"/>
              <a:t>Every LLM call does double duty: execution </a:t>
            </a:r>
            <a:r>
              <a:rPr lang="en-US" sz="1800" i="1" dirty="0"/>
              <a:t>and</a:t>
            </a:r>
            <a:r>
              <a:rPr lang="en-US" sz="1800" dirty="0"/>
              <a:t> learning.</a:t>
            </a:r>
          </a:p>
          <a:p>
            <a:pPr marL="342900" indent="-342900">
              <a:lnSpc>
                <a:spcPts val="2400"/>
              </a:lnSpc>
              <a:spcAft>
                <a:spcPts val="500"/>
              </a:spcAft>
              <a:buFont typeface="Arial"/>
              <a:buChar char="•"/>
            </a:pPr>
            <a:r>
              <a:rPr lang="en-US" sz="1800" b="1" dirty="0"/>
              <a:t>Code &amp; data:</a:t>
            </a:r>
            <a:r>
              <a:rPr lang="en-US" sz="1800" dirty="0"/>
              <a:t> [INSERT YOUR GITHUB LINK HERE]</a:t>
            </a:r>
          </a:p>
        </p:txBody>
      </p:sp>
    </p:spTree>
    <p:extLst>
      <p:ext uri="{BB962C8B-B14F-4D97-AF65-F5344CB8AC3E}">
        <p14:creationId xmlns:p14="http://schemas.microsoft.com/office/powerpoint/2010/main" val="3850411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08C60-C7FE-B189-C3E3-5107DCC97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4702A-663A-71AD-76CF-6F12F57A4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ts val="2200"/>
              </a:lnSpc>
              <a:spcAft>
                <a:spcPts val="400"/>
              </a:spcAft>
              <a:buFont typeface="Arial"/>
              <a:buAutoNum type="arabicPeriod"/>
            </a:pPr>
            <a:r>
              <a:rPr lang="en-US" sz="1500" dirty="0"/>
              <a:t>Avnur, R., &amp; Hellerstein, J. M. (2000). Eddies: Continuously adaptive query processing. </a:t>
            </a:r>
            <a:r>
              <a:rPr lang="en-US" sz="1500" i="1" dirty="0"/>
              <a:t>SIGMOD</a:t>
            </a:r>
            <a:r>
              <a:rPr lang="en-US" sz="1500" dirty="0"/>
              <a:t>.</a:t>
            </a:r>
          </a:p>
          <a:p>
            <a:pPr marL="342900" indent="-342900">
              <a:lnSpc>
                <a:spcPts val="2200"/>
              </a:lnSpc>
              <a:spcAft>
                <a:spcPts val="400"/>
              </a:spcAft>
              <a:buFont typeface="Arial"/>
              <a:buAutoNum type="arabicPeriod"/>
            </a:pPr>
            <a:r>
              <a:rPr lang="en-US" sz="1500" dirty="0"/>
              <a:t>Patel, L. et al. (2024). LOTUS: A semantic query engine for fast and easy LLM-powered data processing.</a:t>
            </a:r>
          </a:p>
          <a:p>
            <a:pPr marL="342900" indent="-342900">
              <a:lnSpc>
                <a:spcPts val="2200"/>
              </a:lnSpc>
              <a:spcAft>
                <a:spcPts val="400"/>
              </a:spcAft>
              <a:buFont typeface="Arial"/>
              <a:buAutoNum type="arabicPeriod"/>
            </a:pPr>
            <a:r>
              <a:rPr lang="en-US" sz="1500" dirty="0"/>
              <a:t>Liu, J. et al. (2024). Optimizing LLM queries in relational workloads.</a:t>
            </a:r>
          </a:p>
          <a:p>
            <a:pPr marL="342900" indent="-342900">
              <a:lnSpc>
                <a:spcPts val="2200"/>
              </a:lnSpc>
              <a:spcAft>
                <a:spcPts val="400"/>
              </a:spcAft>
              <a:buFont typeface="Arial"/>
              <a:buAutoNum type="arabicPeriod"/>
            </a:pPr>
            <a:r>
              <a:rPr lang="en-US" sz="1500" dirty="0"/>
              <a:t>Auer, P., Cesa-Bianchi, N., &amp; Fischer, P. (2002). Finite-time analysis of the multiarmed bandit problem. </a:t>
            </a:r>
            <a:r>
              <a:rPr lang="en-US" sz="1500" i="1" dirty="0"/>
              <a:t>Machine Learning</a:t>
            </a:r>
            <a:r>
              <a:rPr lang="en-US" sz="1500" dirty="0"/>
              <a:t>, 47(2–3), 235–256.</a:t>
            </a:r>
          </a:p>
          <a:p>
            <a:pPr marL="342900" indent="-342900">
              <a:lnSpc>
                <a:spcPts val="2200"/>
              </a:lnSpc>
              <a:spcAft>
                <a:spcPts val="400"/>
              </a:spcAft>
              <a:buFont typeface="Arial"/>
              <a:buAutoNum type="arabicPeriod"/>
            </a:pPr>
            <a:r>
              <a:rPr lang="en-US" sz="1500" dirty="0"/>
              <a:t>Russo, D. et al. (2018). A tutorial on Thompson Sampling. </a:t>
            </a:r>
            <a:r>
              <a:rPr lang="en-US" sz="1500" i="1" dirty="0"/>
              <a:t>Foundations &amp; Trends in ML</a:t>
            </a:r>
            <a:r>
              <a:rPr lang="en-US" sz="1500" dirty="0"/>
              <a:t>.</a:t>
            </a:r>
          </a:p>
          <a:p>
            <a:pPr marL="342900" indent="-342900">
              <a:lnSpc>
                <a:spcPts val="2200"/>
              </a:lnSpc>
              <a:spcAft>
                <a:spcPts val="400"/>
              </a:spcAft>
              <a:buFont typeface="Arial"/>
              <a:buAutoNum type="arabicPeriod"/>
            </a:pPr>
            <a:r>
              <a:rPr lang="en-US" sz="1500" dirty="0"/>
              <a:t>Selinger, P. G. et al. (1979). Access path selection in a relational database management system. </a:t>
            </a:r>
            <a:r>
              <a:rPr lang="en-US" sz="1500" i="1" dirty="0"/>
              <a:t>SIGMOD</a:t>
            </a:r>
            <a:r>
              <a:rPr lang="en-US" sz="1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136326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138EB4D-7CA3-184B-95A9-C2AE9178E1F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65d14a93-4b4e-479c-b4d1-c502ff3569f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58</TotalTime>
  <Words>983</Words>
  <Application>Microsoft Macintosh PowerPoint</Application>
  <PresentationFormat>Widescreen</PresentationFormat>
  <Paragraphs>114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Gill Sans MT</vt:lpstr>
      <vt:lpstr>Gallery</vt:lpstr>
      <vt:lpstr>Adaptive Query Processing for LLM-backed Semantic Operators</vt:lpstr>
      <vt:lpstr>Introduction: The Planning Problem</vt:lpstr>
      <vt:lpstr>Why It Matters</vt:lpstr>
      <vt:lpstr>Background: Traditional Query Optimization</vt:lpstr>
      <vt:lpstr>Background: Eddies Architecture</vt:lpstr>
      <vt:lpstr>Methodology: System Design</vt:lpstr>
      <vt:lpstr>Methodology: Routing Policies</vt:lpstr>
      <vt:lpstr>Experimental Setup</vt:lpstr>
      <vt:lpstr>Results: Eddy vs Baselines</vt:lpstr>
      <vt:lpstr>Results: Routing Policy Comparison</vt:lpstr>
      <vt:lpstr>Ablation: Sample Size Impact</vt:lpstr>
      <vt:lpstr>Results: Non-Stationary Workloads</vt:lpstr>
      <vt:lpstr>Contributions &amp; Limitations</vt:lpstr>
      <vt:lpstr>Summary &amp; Deliverables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Manchella</dc:creator>
  <cp:lastModifiedBy>Amit Manchella</cp:lastModifiedBy>
  <cp:revision>1</cp:revision>
  <dcterms:created xsi:type="dcterms:W3CDTF">2026-04-26T20:35:08Z</dcterms:created>
  <dcterms:modified xsi:type="dcterms:W3CDTF">2026-04-26T21:33:42Z</dcterms:modified>
</cp:coreProperties>
</file>